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Poppins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19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4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649" y="87939"/>
            <a:ext cx="18150133" cy="10079944"/>
            <a:chOff x="0" y="0"/>
            <a:chExt cx="24200177" cy="13439925"/>
          </a:xfrm>
        </p:grpSpPr>
        <p:sp>
          <p:nvSpPr>
            <p:cNvPr id="3" name="Freeform 3"/>
            <p:cNvSpPr/>
            <p:nvPr/>
          </p:nvSpPr>
          <p:spPr>
            <a:xfrm>
              <a:off x="119793" y="217912"/>
              <a:ext cx="24080384" cy="13076492"/>
            </a:xfrm>
            <a:custGeom>
              <a:avLst/>
              <a:gdLst/>
              <a:ahLst/>
              <a:cxnLst/>
              <a:rect l="l" t="t" r="r" b="b"/>
              <a:pathLst>
                <a:path w="24080384" h="13076492">
                  <a:moveTo>
                    <a:pt x="0" y="0"/>
                  </a:moveTo>
                  <a:lnTo>
                    <a:pt x="24080384" y="0"/>
                  </a:lnTo>
                  <a:lnTo>
                    <a:pt x="24080384" y="13076492"/>
                  </a:lnTo>
                  <a:lnTo>
                    <a:pt x="0" y="13076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06" t="-2161" r="-707" b="-2667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Freeform 4"/>
            <p:cNvSpPr/>
            <p:nvPr/>
          </p:nvSpPr>
          <p:spPr>
            <a:xfrm rot="2599871">
              <a:off x="1771323" y="317121"/>
              <a:ext cx="528062" cy="860652"/>
            </a:xfrm>
            <a:custGeom>
              <a:avLst/>
              <a:gdLst/>
              <a:ahLst/>
              <a:cxnLst/>
              <a:rect l="l" t="t" r="r" b="b"/>
              <a:pathLst>
                <a:path w="528062" h="860652">
                  <a:moveTo>
                    <a:pt x="0" y="0"/>
                  </a:moveTo>
                  <a:lnTo>
                    <a:pt x="528062" y="0"/>
                  </a:lnTo>
                  <a:lnTo>
                    <a:pt x="528062" y="860652"/>
                  </a:lnTo>
                  <a:lnTo>
                    <a:pt x="0" y="860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89270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2599871">
              <a:off x="2183713" y="314741"/>
              <a:ext cx="528062" cy="878112"/>
            </a:xfrm>
            <a:custGeom>
              <a:avLst/>
              <a:gdLst/>
              <a:ahLst/>
              <a:cxnLst/>
              <a:rect l="l" t="t" r="r" b="b"/>
              <a:pathLst>
                <a:path w="528062" h="878112">
                  <a:moveTo>
                    <a:pt x="0" y="0"/>
                  </a:moveTo>
                  <a:lnTo>
                    <a:pt x="528062" y="0"/>
                  </a:lnTo>
                  <a:lnTo>
                    <a:pt x="528062" y="878112"/>
                  </a:lnTo>
                  <a:lnTo>
                    <a:pt x="0" y="878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14" r="-92096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5400000">
              <a:off x="2129427" y="100530"/>
              <a:ext cx="528062" cy="878112"/>
            </a:xfrm>
            <a:custGeom>
              <a:avLst/>
              <a:gdLst/>
              <a:ahLst/>
              <a:cxnLst/>
              <a:rect l="l" t="t" r="r" b="b"/>
              <a:pathLst>
                <a:path w="528062" h="878112">
                  <a:moveTo>
                    <a:pt x="0" y="0"/>
                  </a:moveTo>
                  <a:lnTo>
                    <a:pt x="528062" y="0"/>
                  </a:lnTo>
                  <a:lnTo>
                    <a:pt x="528062" y="878112"/>
                  </a:lnTo>
                  <a:lnTo>
                    <a:pt x="0" y="878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14" r="-92096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803865" y="575909"/>
              <a:ext cx="2847154" cy="980339"/>
            </a:xfrm>
            <a:custGeom>
              <a:avLst/>
              <a:gdLst/>
              <a:ahLst/>
              <a:cxnLst/>
              <a:rect l="l" t="t" r="r" b="b"/>
              <a:pathLst>
                <a:path w="2847154" h="980339">
                  <a:moveTo>
                    <a:pt x="0" y="0"/>
                  </a:moveTo>
                  <a:lnTo>
                    <a:pt x="2847154" y="0"/>
                  </a:lnTo>
                  <a:lnTo>
                    <a:pt x="2847154" y="980339"/>
                  </a:lnTo>
                  <a:lnTo>
                    <a:pt x="0" y="980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5327940" y="539907"/>
              <a:ext cx="3091775" cy="964311"/>
            </a:xfrm>
            <a:custGeom>
              <a:avLst/>
              <a:gdLst/>
              <a:ahLst/>
              <a:cxnLst/>
              <a:rect l="l" t="t" r="r" b="b"/>
              <a:pathLst>
                <a:path w="3091775" h="964311">
                  <a:moveTo>
                    <a:pt x="0" y="0"/>
                  </a:moveTo>
                  <a:lnTo>
                    <a:pt x="3091774" y="0"/>
                  </a:lnTo>
                  <a:lnTo>
                    <a:pt x="3091774" y="964311"/>
                  </a:lnTo>
                  <a:lnTo>
                    <a:pt x="0" y="964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9" name="Group 9"/>
            <p:cNvGrpSpPr/>
            <p:nvPr/>
          </p:nvGrpSpPr>
          <p:grpSpPr>
            <a:xfrm>
              <a:off x="15366736" y="322929"/>
              <a:ext cx="1788924" cy="1309111"/>
              <a:chOff x="0" y="0"/>
              <a:chExt cx="298529" cy="21846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98529" cy="218460"/>
              </a:xfrm>
              <a:custGeom>
                <a:avLst/>
                <a:gdLst/>
                <a:ahLst/>
                <a:cxnLst/>
                <a:rect l="l" t="t" r="r" b="b"/>
                <a:pathLst>
                  <a:path w="298529" h="218460">
                    <a:moveTo>
                      <a:pt x="0" y="0"/>
                    </a:moveTo>
                    <a:lnTo>
                      <a:pt x="298529" y="0"/>
                    </a:lnTo>
                    <a:lnTo>
                      <a:pt x="298529" y="218460"/>
                    </a:lnTo>
                    <a:lnTo>
                      <a:pt x="0" y="21846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66675"/>
                <a:ext cx="298529" cy="285135"/>
              </a:xfrm>
              <a:prstGeom prst="rect">
                <a:avLst/>
              </a:prstGeom>
            </p:spPr>
            <p:txBody>
              <a:bodyPr lIns="32471" tIns="32471" rIns="32471" bIns="32471" rtlCol="0" anchor="ctr"/>
              <a:lstStyle/>
              <a:p>
                <a:pPr algn="ctr">
                  <a:lnSpc>
                    <a:spcPts val="5039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674985" y="347068"/>
              <a:ext cx="1172427" cy="1260834"/>
            </a:xfrm>
            <a:custGeom>
              <a:avLst/>
              <a:gdLst/>
              <a:ahLst/>
              <a:cxnLst/>
              <a:rect l="l" t="t" r="r" b="b"/>
              <a:pathLst>
                <a:path w="1172427" h="1260834">
                  <a:moveTo>
                    <a:pt x="0" y="0"/>
                  </a:moveTo>
                  <a:lnTo>
                    <a:pt x="1172426" y="0"/>
                  </a:lnTo>
                  <a:lnTo>
                    <a:pt x="1172426" y="1260834"/>
                  </a:lnTo>
                  <a:lnTo>
                    <a:pt x="0" y="1260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0918" r="-40918" b="-13102"/>
              </a:stretch>
            </a:blipFill>
          </p:spPr>
        </p:sp>
        <p:grpSp>
          <p:nvGrpSpPr>
            <p:cNvPr id="13" name="Group 13"/>
            <p:cNvGrpSpPr/>
            <p:nvPr/>
          </p:nvGrpSpPr>
          <p:grpSpPr>
            <a:xfrm>
              <a:off x="11641973" y="467581"/>
              <a:ext cx="3153263" cy="1269001"/>
              <a:chOff x="0" y="0"/>
              <a:chExt cx="542837" cy="21846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42837" cy="218460"/>
              </a:xfrm>
              <a:custGeom>
                <a:avLst/>
                <a:gdLst/>
                <a:ahLst/>
                <a:cxnLst/>
                <a:rect l="l" t="t" r="r" b="b"/>
                <a:pathLst>
                  <a:path w="542837" h="218460">
                    <a:moveTo>
                      <a:pt x="88388" y="0"/>
                    </a:moveTo>
                    <a:lnTo>
                      <a:pt x="454450" y="0"/>
                    </a:lnTo>
                    <a:cubicBezTo>
                      <a:pt x="503265" y="0"/>
                      <a:pt x="542837" y="39572"/>
                      <a:pt x="542837" y="88388"/>
                    </a:cubicBezTo>
                    <a:lnTo>
                      <a:pt x="542837" y="130072"/>
                    </a:lnTo>
                    <a:cubicBezTo>
                      <a:pt x="542837" y="178887"/>
                      <a:pt x="503265" y="218460"/>
                      <a:pt x="454450" y="218460"/>
                    </a:cubicBezTo>
                    <a:lnTo>
                      <a:pt x="88388" y="218460"/>
                    </a:lnTo>
                    <a:cubicBezTo>
                      <a:pt x="39572" y="218460"/>
                      <a:pt x="0" y="178887"/>
                      <a:pt x="0" y="130072"/>
                    </a:cubicBezTo>
                    <a:lnTo>
                      <a:pt x="0" y="88388"/>
                    </a:lnTo>
                    <a:cubicBezTo>
                      <a:pt x="0" y="39572"/>
                      <a:pt x="39572" y="0"/>
                      <a:pt x="8838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66675"/>
                <a:ext cx="542837" cy="285135"/>
              </a:xfrm>
              <a:prstGeom prst="rect">
                <a:avLst/>
              </a:prstGeom>
            </p:spPr>
            <p:txBody>
              <a:bodyPr lIns="31476" tIns="31476" rIns="31476" bIns="31476" rtlCol="0" anchor="ctr"/>
              <a:lstStyle/>
              <a:p>
                <a:pPr algn="ctr">
                  <a:lnSpc>
                    <a:spcPts val="5040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1859215" y="700664"/>
              <a:ext cx="2718779" cy="802835"/>
            </a:xfrm>
            <a:custGeom>
              <a:avLst/>
              <a:gdLst/>
              <a:ahLst/>
              <a:cxnLst/>
              <a:rect l="l" t="t" r="r" b="b"/>
              <a:pathLst>
                <a:path w="2718779" h="802835">
                  <a:moveTo>
                    <a:pt x="0" y="0"/>
                  </a:moveTo>
                  <a:lnTo>
                    <a:pt x="2718779" y="0"/>
                  </a:lnTo>
                  <a:lnTo>
                    <a:pt x="2718779" y="802834"/>
                  </a:lnTo>
                  <a:lnTo>
                    <a:pt x="0" y="802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9040200" y="500117"/>
              <a:ext cx="2155871" cy="1131923"/>
            </a:xfrm>
            <a:custGeom>
              <a:avLst/>
              <a:gdLst/>
              <a:ahLst/>
              <a:cxnLst/>
              <a:rect l="l" t="t" r="r" b="b"/>
              <a:pathLst>
                <a:path w="2155871" h="1131923">
                  <a:moveTo>
                    <a:pt x="0" y="0"/>
                  </a:moveTo>
                  <a:lnTo>
                    <a:pt x="2155871" y="0"/>
                  </a:lnTo>
                  <a:lnTo>
                    <a:pt x="2155871" y="1131923"/>
                  </a:lnTo>
                  <a:lnTo>
                    <a:pt x="0" y="1131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0848" t="-87578" r="-18185" b="-77228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 rot="5400000">
              <a:off x="4296376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3" y="0"/>
                  </a:lnTo>
                  <a:lnTo>
                    <a:pt x="1413653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 rot="5400000">
              <a:off x="8076446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 rot="5400000">
              <a:off x="10738503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 rot="5400000">
              <a:off x="14334452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0" y="12926593"/>
              <a:ext cx="447079" cy="513331"/>
            </a:xfrm>
            <a:custGeom>
              <a:avLst/>
              <a:gdLst/>
              <a:ahLst/>
              <a:cxnLst/>
              <a:rect l="l" t="t" r="r" b="b"/>
              <a:pathLst>
                <a:path w="447079" h="513331">
                  <a:moveTo>
                    <a:pt x="0" y="0"/>
                  </a:moveTo>
                  <a:lnTo>
                    <a:pt x="447079" y="0"/>
                  </a:lnTo>
                  <a:lnTo>
                    <a:pt x="447079" y="513332"/>
                  </a:lnTo>
                  <a:lnTo>
                    <a:pt x="0" y="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46410" r="-2261800" b="-794889"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23872891" y="12926593"/>
              <a:ext cx="327286" cy="513331"/>
            </a:xfrm>
            <a:custGeom>
              <a:avLst/>
              <a:gdLst/>
              <a:ahLst/>
              <a:cxnLst/>
              <a:rect l="l" t="t" r="r" b="b"/>
              <a:pathLst>
                <a:path w="327286" h="513331">
                  <a:moveTo>
                    <a:pt x="0" y="0"/>
                  </a:moveTo>
                  <a:lnTo>
                    <a:pt x="327286" y="0"/>
                  </a:lnTo>
                  <a:lnTo>
                    <a:pt x="327286" y="513332"/>
                  </a:lnTo>
                  <a:lnTo>
                    <a:pt x="0" y="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3189663" b="-794889"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 rot="-2449180">
              <a:off x="18577" y="108518"/>
              <a:ext cx="409925" cy="209368"/>
            </a:xfrm>
            <a:custGeom>
              <a:avLst/>
              <a:gdLst/>
              <a:ahLst/>
              <a:cxnLst/>
              <a:rect l="l" t="t" r="r" b="b"/>
              <a:pathLst>
                <a:path w="409925" h="209368">
                  <a:moveTo>
                    <a:pt x="0" y="0"/>
                  </a:moveTo>
                  <a:lnTo>
                    <a:pt x="409925" y="0"/>
                  </a:lnTo>
                  <a:lnTo>
                    <a:pt x="409925" y="209367"/>
                  </a:lnTo>
                  <a:lnTo>
                    <a:pt x="0" y="209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22294" t="-487293" r="-5831621" b="-4553559"/>
              </a:stretch>
            </a:blipFill>
          </p:spPr>
        </p:sp>
      </p:grpSp>
      <p:sp>
        <p:nvSpPr>
          <p:cNvPr id="25" name="Freeform 25"/>
          <p:cNvSpPr/>
          <p:nvPr/>
        </p:nvSpPr>
        <p:spPr>
          <a:xfrm>
            <a:off x="15601367" y="76238"/>
            <a:ext cx="2551067" cy="203144"/>
          </a:xfrm>
          <a:custGeom>
            <a:avLst/>
            <a:gdLst/>
            <a:ahLst/>
            <a:cxnLst/>
            <a:rect l="l" t="t" r="r" b="b"/>
            <a:pathLst>
              <a:path w="2551067" h="203144">
                <a:moveTo>
                  <a:pt x="0" y="0"/>
                </a:moveTo>
                <a:lnTo>
                  <a:pt x="2551066" y="0"/>
                </a:lnTo>
                <a:lnTo>
                  <a:pt x="2551066" y="203144"/>
                </a:lnTo>
                <a:lnTo>
                  <a:pt x="0" y="2031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82375" r="-641643" b="-3691381"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4000669" y="1495022"/>
            <a:ext cx="4151764" cy="8575775"/>
          </a:xfrm>
          <a:custGeom>
            <a:avLst/>
            <a:gdLst/>
            <a:ahLst/>
            <a:cxnLst/>
            <a:rect l="l" t="t" r="r" b="b"/>
            <a:pathLst>
              <a:path w="4151764" h="8575775">
                <a:moveTo>
                  <a:pt x="0" y="0"/>
                </a:moveTo>
                <a:lnTo>
                  <a:pt x="4151764" y="0"/>
                </a:lnTo>
                <a:lnTo>
                  <a:pt x="4151764" y="8575774"/>
                </a:lnTo>
                <a:lnTo>
                  <a:pt x="0" y="857577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837367" y="2014375"/>
            <a:ext cx="13163302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1" dirty="0">
                <a:solidFill>
                  <a:srgbClr val="93191A"/>
                </a:solidFill>
                <a:latin typeface="Poppins Bold" panose="020B0604020202020204" charset="0"/>
                <a:ea typeface="Poppins Bold"/>
                <a:cs typeface="Poppins Bold" panose="020B0604020202020204" charset="0"/>
                <a:sym typeface="Poppins Bold"/>
              </a:rPr>
              <a:t>TITLE: </a:t>
            </a:r>
            <a:r>
              <a:rPr lang="en-US" sz="4000" dirty="0">
                <a:solidFill>
                  <a:srgbClr val="93191A"/>
                </a:solidFill>
                <a:latin typeface="Poppins Bold" panose="020B0604020202020204" charset="0"/>
                <a:cs typeface="Poppins Bold" panose="020B0604020202020204" charset="0"/>
              </a:rPr>
              <a:t>Digital Platform for Formal E-Waste Collection and Recycling</a:t>
            </a:r>
            <a:r>
              <a:rPr lang="en-US" sz="4000" b="1" dirty="0">
                <a:solidFill>
                  <a:srgbClr val="93191A"/>
                </a:solidFill>
                <a:latin typeface="Poppins Bold" panose="020B0604020202020204" charset="0"/>
                <a:ea typeface="Poppins Bold"/>
                <a:cs typeface="Poppins Bold" panose="020B0604020202020204" charset="0"/>
                <a:sym typeface="Poppins Bold"/>
              </a:rPr>
              <a:t> 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7366" y="3638229"/>
            <a:ext cx="4496633" cy="413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8"/>
              </a:lnSpc>
              <a:spcBef>
                <a:spcPct val="0"/>
              </a:spcBef>
            </a:pPr>
            <a:r>
              <a:rPr lang="en-US" sz="2406" b="1" dirty="0">
                <a:solidFill>
                  <a:srgbClr val="93191A"/>
                </a:solidFill>
                <a:latin typeface="Poppins Bold"/>
                <a:ea typeface="Poppins Bold"/>
                <a:cs typeface="Poppins Bold"/>
                <a:sym typeface="Poppins Bold"/>
              </a:rPr>
              <a:t>TEAM NAME: VITAL EDGERS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7367" y="4217185"/>
            <a:ext cx="2668312" cy="413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8"/>
              </a:lnSpc>
              <a:spcBef>
                <a:spcPct val="0"/>
              </a:spcBef>
            </a:pPr>
            <a:r>
              <a:rPr lang="en-US" sz="2406" b="1" dirty="0">
                <a:solidFill>
                  <a:srgbClr val="93191A"/>
                </a:solidFill>
                <a:latin typeface="Poppins Bold"/>
                <a:ea typeface="Poppins Bold"/>
                <a:cs typeface="Poppins Bold"/>
                <a:sym typeface="Poppins Bold"/>
              </a:rPr>
              <a:t>TEAM ID: YS528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7367" y="4793916"/>
            <a:ext cx="2060024" cy="413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8"/>
              </a:lnSpc>
              <a:spcBef>
                <a:spcPct val="0"/>
              </a:spcBef>
            </a:pPr>
            <a:r>
              <a:rPr lang="en-US" sz="2406" b="1" dirty="0">
                <a:solidFill>
                  <a:srgbClr val="93191A"/>
                </a:solidFill>
                <a:latin typeface="Poppins Bold"/>
                <a:ea typeface="Poppins Bold"/>
                <a:cs typeface="Poppins Bold"/>
                <a:sym typeface="Poppins Bold"/>
              </a:rPr>
              <a:t>PS ID: 19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7366" y="5370647"/>
            <a:ext cx="4184475" cy="413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8"/>
              </a:lnSpc>
              <a:spcBef>
                <a:spcPct val="0"/>
              </a:spcBef>
            </a:pPr>
            <a:r>
              <a:rPr lang="en-US" sz="2406" b="1" dirty="0">
                <a:solidFill>
                  <a:srgbClr val="93191A"/>
                </a:solidFill>
                <a:latin typeface="Poppins Bold"/>
                <a:ea typeface="Poppins Bold"/>
                <a:cs typeface="Poppins Bold"/>
                <a:sym typeface="Poppins Bold"/>
              </a:rPr>
              <a:t>DOMAIN: SOFTWARE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7367" y="6519047"/>
            <a:ext cx="8840033" cy="413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8"/>
              </a:lnSpc>
              <a:spcBef>
                <a:spcPct val="0"/>
              </a:spcBef>
            </a:pPr>
            <a:r>
              <a:rPr lang="en-US" sz="2406" b="1" dirty="0">
                <a:solidFill>
                  <a:srgbClr val="93191A"/>
                </a:solidFill>
                <a:latin typeface="Poppins Bold"/>
                <a:ea typeface="Poppins Bold"/>
                <a:cs typeface="Poppins Bold"/>
                <a:sym typeface="Poppins Bold"/>
              </a:rPr>
              <a:t>MEMBER-1 NAME: MOHAMMED FARAAZ ISHAQUE M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7366" y="7095779"/>
            <a:ext cx="7848447" cy="413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8"/>
              </a:lnSpc>
              <a:spcBef>
                <a:spcPct val="0"/>
              </a:spcBef>
            </a:pPr>
            <a:r>
              <a:rPr lang="en-US" sz="2406" b="1" dirty="0">
                <a:solidFill>
                  <a:srgbClr val="93191A"/>
                </a:solidFill>
                <a:latin typeface="Poppins Bold"/>
                <a:ea typeface="Poppins Bold"/>
                <a:cs typeface="Poppins Bold"/>
                <a:sym typeface="Poppins Bold"/>
              </a:rPr>
              <a:t>MEMBER-2 NAME: MOHAMMED SAAD R K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367" y="7672510"/>
            <a:ext cx="8076693" cy="413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8"/>
              </a:lnSpc>
              <a:spcBef>
                <a:spcPct val="0"/>
              </a:spcBef>
            </a:pPr>
            <a:r>
              <a:rPr lang="en-US" sz="2406" b="1" dirty="0">
                <a:solidFill>
                  <a:srgbClr val="93191A"/>
                </a:solidFill>
                <a:latin typeface="Poppins Bold"/>
                <a:ea typeface="Poppins Bold"/>
                <a:cs typeface="Poppins Bold"/>
                <a:sym typeface="Poppins Bold"/>
              </a:rPr>
              <a:t>MEMBER-3 NAME: MOHAMMED IRFAN 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7367" y="8249241"/>
            <a:ext cx="8076692" cy="413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8"/>
              </a:lnSpc>
              <a:spcBef>
                <a:spcPct val="0"/>
              </a:spcBef>
            </a:pPr>
            <a:r>
              <a:rPr lang="en-US" sz="2406" b="1" dirty="0">
                <a:solidFill>
                  <a:srgbClr val="93191A"/>
                </a:solidFill>
                <a:latin typeface="Poppins Bold"/>
                <a:ea typeface="Poppins Bold"/>
                <a:cs typeface="Poppins Bold"/>
                <a:sym typeface="Poppins Bold"/>
              </a:rPr>
              <a:t>MEMBER-4 NAME: MOHAMMED ASRAR U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7367" y="5942316"/>
            <a:ext cx="8459033" cy="413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8"/>
              </a:lnSpc>
              <a:spcBef>
                <a:spcPct val="0"/>
              </a:spcBef>
            </a:pPr>
            <a:r>
              <a:rPr lang="en-US" sz="2406" b="1" dirty="0">
                <a:solidFill>
                  <a:srgbClr val="93191A"/>
                </a:solidFill>
                <a:latin typeface="Poppins Bold"/>
                <a:ea typeface="Poppins Bold"/>
                <a:cs typeface="Poppins Bold"/>
                <a:sym typeface="Poppins Bold"/>
              </a:rPr>
              <a:t>TEAM LEADER NAME: MALACK MOHAMMED HASSAN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649" y="87939"/>
            <a:ext cx="18150133" cy="10079944"/>
            <a:chOff x="0" y="0"/>
            <a:chExt cx="24200177" cy="13439925"/>
          </a:xfrm>
        </p:grpSpPr>
        <p:sp>
          <p:nvSpPr>
            <p:cNvPr id="3" name="Freeform 3"/>
            <p:cNvSpPr/>
            <p:nvPr/>
          </p:nvSpPr>
          <p:spPr>
            <a:xfrm>
              <a:off x="119793" y="217912"/>
              <a:ext cx="24080384" cy="13076492"/>
            </a:xfrm>
            <a:custGeom>
              <a:avLst/>
              <a:gdLst/>
              <a:ahLst/>
              <a:cxnLst/>
              <a:rect l="l" t="t" r="r" b="b"/>
              <a:pathLst>
                <a:path w="24080384" h="13076492">
                  <a:moveTo>
                    <a:pt x="0" y="0"/>
                  </a:moveTo>
                  <a:lnTo>
                    <a:pt x="24080384" y="0"/>
                  </a:lnTo>
                  <a:lnTo>
                    <a:pt x="24080384" y="13076492"/>
                  </a:lnTo>
                  <a:lnTo>
                    <a:pt x="0" y="13076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06" t="-2161" r="-707" b="-2667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2599871">
              <a:off x="1771323" y="317121"/>
              <a:ext cx="528062" cy="860652"/>
            </a:xfrm>
            <a:custGeom>
              <a:avLst/>
              <a:gdLst/>
              <a:ahLst/>
              <a:cxnLst/>
              <a:rect l="l" t="t" r="r" b="b"/>
              <a:pathLst>
                <a:path w="528062" h="860652">
                  <a:moveTo>
                    <a:pt x="0" y="0"/>
                  </a:moveTo>
                  <a:lnTo>
                    <a:pt x="528062" y="0"/>
                  </a:lnTo>
                  <a:lnTo>
                    <a:pt x="528062" y="860652"/>
                  </a:lnTo>
                  <a:lnTo>
                    <a:pt x="0" y="860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89270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2599871">
              <a:off x="2183713" y="314741"/>
              <a:ext cx="528062" cy="878112"/>
            </a:xfrm>
            <a:custGeom>
              <a:avLst/>
              <a:gdLst/>
              <a:ahLst/>
              <a:cxnLst/>
              <a:rect l="l" t="t" r="r" b="b"/>
              <a:pathLst>
                <a:path w="528062" h="878112">
                  <a:moveTo>
                    <a:pt x="0" y="0"/>
                  </a:moveTo>
                  <a:lnTo>
                    <a:pt x="528062" y="0"/>
                  </a:lnTo>
                  <a:lnTo>
                    <a:pt x="528062" y="878112"/>
                  </a:lnTo>
                  <a:lnTo>
                    <a:pt x="0" y="878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14" r="-92096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5400000">
              <a:off x="2129427" y="100530"/>
              <a:ext cx="528062" cy="878112"/>
            </a:xfrm>
            <a:custGeom>
              <a:avLst/>
              <a:gdLst/>
              <a:ahLst/>
              <a:cxnLst/>
              <a:rect l="l" t="t" r="r" b="b"/>
              <a:pathLst>
                <a:path w="528062" h="878112">
                  <a:moveTo>
                    <a:pt x="0" y="0"/>
                  </a:moveTo>
                  <a:lnTo>
                    <a:pt x="528062" y="0"/>
                  </a:lnTo>
                  <a:lnTo>
                    <a:pt x="528062" y="878112"/>
                  </a:lnTo>
                  <a:lnTo>
                    <a:pt x="0" y="878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14" r="-92096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803865" y="575909"/>
              <a:ext cx="2847154" cy="980339"/>
            </a:xfrm>
            <a:custGeom>
              <a:avLst/>
              <a:gdLst/>
              <a:ahLst/>
              <a:cxnLst/>
              <a:rect l="l" t="t" r="r" b="b"/>
              <a:pathLst>
                <a:path w="2847154" h="980339">
                  <a:moveTo>
                    <a:pt x="0" y="0"/>
                  </a:moveTo>
                  <a:lnTo>
                    <a:pt x="2847154" y="0"/>
                  </a:lnTo>
                  <a:lnTo>
                    <a:pt x="2847154" y="980339"/>
                  </a:lnTo>
                  <a:lnTo>
                    <a:pt x="0" y="980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5327940" y="539907"/>
              <a:ext cx="3091775" cy="964311"/>
            </a:xfrm>
            <a:custGeom>
              <a:avLst/>
              <a:gdLst/>
              <a:ahLst/>
              <a:cxnLst/>
              <a:rect l="l" t="t" r="r" b="b"/>
              <a:pathLst>
                <a:path w="3091775" h="964311">
                  <a:moveTo>
                    <a:pt x="0" y="0"/>
                  </a:moveTo>
                  <a:lnTo>
                    <a:pt x="3091774" y="0"/>
                  </a:lnTo>
                  <a:lnTo>
                    <a:pt x="3091774" y="964311"/>
                  </a:lnTo>
                  <a:lnTo>
                    <a:pt x="0" y="964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9" name="Group 9"/>
            <p:cNvGrpSpPr/>
            <p:nvPr/>
          </p:nvGrpSpPr>
          <p:grpSpPr>
            <a:xfrm>
              <a:off x="15366736" y="322929"/>
              <a:ext cx="1788924" cy="1309111"/>
              <a:chOff x="0" y="0"/>
              <a:chExt cx="298529" cy="21846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98529" cy="218460"/>
              </a:xfrm>
              <a:custGeom>
                <a:avLst/>
                <a:gdLst/>
                <a:ahLst/>
                <a:cxnLst/>
                <a:rect l="l" t="t" r="r" b="b"/>
                <a:pathLst>
                  <a:path w="298529" h="218460">
                    <a:moveTo>
                      <a:pt x="0" y="0"/>
                    </a:moveTo>
                    <a:lnTo>
                      <a:pt x="298529" y="0"/>
                    </a:lnTo>
                    <a:lnTo>
                      <a:pt x="298529" y="218460"/>
                    </a:lnTo>
                    <a:lnTo>
                      <a:pt x="0" y="21846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66675"/>
                <a:ext cx="298529" cy="285135"/>
              </a:xfrm>
              <a:prstGeom prst="rect">
                <a:avLst/>
              </a:prstGeom>
            </p:spPr>
            <p:txBody>
              <a:bodyPr lIns="32471" tIns="32471" rIns="32471" bIns="32471" rtlCol="0" anchor="ctr"/>
              <a:lstStyle/>
              <a:p>
                <a:pPr algn="ctr">
                  <a:lnSpc>
                    <a:spcPts val="5039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674985" y="347068"/>
              <a:ext cx="1172427" cy="1260834"/>
            </a:xfrm>
            <a:custGeom>
              <a:avLst/>
              <a:gdLst/>
              <a:ahLst/>
              <a:cxnLst/>
              <a:rect l="l" t="t" r="r" b="b"/>
              <a:pathLst>
                <a:path w="1172427" h="1260834">
                  <a:moveTo>
                    <a:pt x="0" y="0"/>
                  </a:moveTo>
                  <a:lnTo>
                    <a:pt x="1172426" y="0"/>
                  </a:lnTo>
                  <a:lnTo>
                    <a:pt x="1172426" y="1260834"/>
                  </a:lnTo>
                  <a:lnTo>
                    <a:pt x="0" y="1260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0918" r="-40918" b="-13102"/>
              </a:stretch>
            </a:blipFill>
          </p:spPr>
        </p:sp>
        <p:grpSp>
          <p:nvGrpSpPr>
            <p:cNvPr id="13" name="Group 13"/>
            <p:cNvGrpSpPr/>
            <p:nvPr/>
          </p:nvGrpSpPr>
          <p:grpSpPr>
            <a:xfrm>
              <a:off x="11641973" y="467581"/>
              <a:ext cx="3153263" cy="1269001"/>
              <a:chOff x="0" y="0"/>
              <a:chExt cx="542837" cy="21846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42837" cy="218460"/>
              </a:xfrm>
              <a:custGeom>
                <a:avLst/>
                <a:gdLst/>
                <a:ahLst/>
                <a:cxnLst/>
                <a:rect l="l" t="t" r="r" b="b"/>
                <a:pathLst>
                  <a:path w="542837" h="218460">
                    <a:moveTo>
                      <a:pt x="88388" y="0"/>
                    </a:moveTo>
                    <a:lnTo>
                      <a:pt x="454450" y="0"/>
                    </a:lnTo>
                    <a:cubicBezTo>
                      <a:pt x="503265" y="0"/>
                      <a:pt x="542837" y="39572"/>
                      <a:pt x="542837" y="88388"/>
                    </a:cubicBezTo>
                    <a:lnTo>
                      <a:pt x="542837" y="130072"/>
                    </a:lnTo>
                    <a:cubicBezTo>
                      <a:pt x="542837" y="178887"/>
                      <a:pt x="503265" y="218460"/>
                      <a:pt x="454450" y="218460"/>
                    </a:cubicBezTo>
                    <a:lnTo>
                      <a:pt x="88388" y="218460"/>
                    </a:lnTo>
                    <a:cubicBezTo>
                      <a:pt x="39572" y="218460"/>
                      <a:pt x="0" y="178887"/>
                      <a:pt x="0" y="130072"/>
                    </a:cubicBezTo>
                    <a:lnTo>
                      <a:pt x="0" y="88388"/>
                    </a:lnTo>
                    <a:cubicBezTo>
                      <a:pt x="0" y="39572"/>
                      <a:pt x="39572" y="0"/>
                      <a:pt x="8838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66675"/>
                <a:ext cx="542837" cy="285135"/>
              </a:xfrm>
              <a:prstGeom prst="rect">
                <a:avLst/>
              </a:prstGeom>
            </p:spPr>
            <p:txBody>
              <a:bodyPr lIns="31476" tIns="31476" rIns="31476" bIns="31476" rtlCol="0" anchor="ctr"/>
              <a:lstStyle/>
              <a:p>
                <a:pPr algn="ctr">
                  <a:lnSpc>
                    <a:spcPts val="5040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1859215" y="700664"/>
              <a:ext cx="2718779" cy="802835"/>
            </a:xfrm>
            <a:custGeom>
              <a:avLst/>
              <a:gdLst/>
              <a:ahLst/>
              <a:cxnLst/>
              <a:rect l="l" t="t" r="r" b="b"/>
              <a:pathLst>
                <a:path w="2718779" h="802835">
                  <a:moveTo>
                    <a:pt x="0" y="0"/>
                  </a:moveTo>
                  <a:lnTo>
                    <a:pt x="2718779" y="0"/>
                  </a:lnTo>
                  <a:lnTo>
                    <a:pt x="2718779" y="802834"/>
                  </a:lnTo>
                  <a:lnTo>
                    <a:pt x="0" y="802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9040200" y="500117"/>
              <a:ext cx="2155871" cy="1131923"/>
            </a:xfrm>
            <a:custGeom>
              <a:avLst/>
              <a:gdLst/>
              <a:ahLst/>
              <a:cxnLst/>
              <a:rect l="l" t="t" r="r" b="b"/>
              <a:pathLst>
                <a:path w="2155871" h="1131923">
                  <a:moveTo>
                    <a:pt x="0" y="0"/>
                  </a:moveTo>
                  <a:lnTo>
                    <a:pt x="2155871" y="0"/>
                  </a:lnTo>
                  <a:lnTo>
                    <a:pt x="2155871" y="1131923"/>
                  </a:lnTo>
                  <a:lnTo>
                    <a:pt x="0" y="1131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0848" t="-87578" r="-18185" b="-77228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 rot="5400000">
              <a:off x="4296376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3" y="0"/>
                  </a:lnTo>
                  <a:lnTo>
                    <a:pt x="1413653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 rot="5400000">
              <a:off x="8076446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 rot="5400000">
              <a:off x="10738503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 rot="5400000">
              <a:off x="14334452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0" y="12926593"/>
              <a:ext cx="447079" cy="513331"/>
            </a:xfrm>
            <a:custGeom>
              <a:avLst/>
              <a:gdLst/>
              <a:ahLst/>
              <a:cxnLst/>
              <a:rect l="l" t="t" r="r" b="b"/>
              <a:pathLst>
                <a:path w="447079" h="513331">
                  <a:moveTo>
                    <a:pt x="0" y="0"/>
                  </a:moveTo>
                  <a:lnTo>
                    <a:pt x="447079" y="0"/>
                  </a:lnTo>
                  <a:lnTo>
                    <a:pt x="447079" y="513332"/>
                  </a:lnTo>
                  <a:lnTo>
                    <a:pt x="0" y="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46410" r="-2261800" b="-794889"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23872891" y="12926593"/>
              <a:ext cx="327286" cy="513331"/>
            </a:xfrm>
            <a:custGeom>
              <a:avLst/>
              <a:gdLst/>
              <a:ahLst/>
              <a:cxnLst/>
              <a:rect l="l" t="t" r="r" b="b"/>
              <a:pathLst>
                <a:path w="327286" h="513331">
                  <a:moveTo>
                    <a:pt x="0" y="0"/>
                  </a:moveTo>
                  <a:lnTo>
                    <a:pt x="327286" y="0"/>
                  </a:lnTo>
                  <a:lnTo>
                    <a:pt x="327286" y="513332"/>
                  </a:lnTo>
                  <a:lnTo>
                    <a:pt x="0" y="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3189663" b="-794889"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 rot="-2449180">
              <a:off x="18577" y="108518"/>
              <a:ext cx="409925" cy="209368"/>
            </a:xfrm>
            <a:custGeom>
              <a:avLst/>
              <a:gdLst/>
              <a:ahLst/>
              <a:cxnLst/>
              <a:rect l="l" t="t" r="r" b="b"/>
              <a:pathLst>
                <a:path w="409925" h="209368">
                  <a:moveTo>
                    <a:pt x="0" y="0"/>
                  </a:moveTo>
                  <a:lnTo>
                    <a:pt x="409925" y="0"/>
                  </a:lnTo>
                  <a:lnTo>
                    <a:pt x="409925" y="209367"/>
                  </a:lnTo>
                  <a:lnTo>
                    <a:pt x="0" y="209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22294" t="-487293" r="-5831621" b="-4553559"/>
              </a:stretch>
            </a:blipFill>
          </p:spPr>
        </p:sp>
      </p:grpSp>
      <p:sp>
        <p:nvSpPr>
          <p:cNvPr id="25" name="Freeform 25"/>
          <p:cNvSpPr/>
          <p:nvPr/>
        </p:nvSpPr>
        <p:spPr>
          <a:xfrm>
            <a:off x="15601367" y="76238"/>
            <a:ext cx="2551067" cy="203144"/>
          </a:xfrm>
          <a:custGeom>
            <a:avLst/>
            <a:gdLst/>
            <a:ahLst/>
            <a:cxnLst/>
            <a:rect l="l" t="t" r="r" b="b"/>
            <a:pathLst>
              <a:path w="2551067" h="203144">
                <a:moveTo>
                  <a:pt x="0" y="0"/>
                </a:moveTo>
                <a:lnTo>
                  <a:pt x="2551066" y="0"/>
                </a:lnTo>
                <a:lnTo>
                  <a:pt x="2551066" y="203144"/>
                </a:lnTo>
                <a:lnTo>
                  <a:pt x="0" y="2031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82375" r="-641643" b="-3691381"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146980" y="1581693"/>
            <a:ext cx="5246916" cy="1398737"/>
            <a:chOff x="0" y="0"/>
            <a:chExt cx="6995888" cy="186498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995888" cy="1864982"/>
            </a:xfrm>
            <a:custGeom>
              <a:avLst/>
              <a:gdLst/>
              <a:ahLst/>
              <a:cxnLst/>
              <a:rect l="l" t="t" r="r" b="b"/>
              <a:pathLst>
                <a:path w="6995888" h="1864982">
                  <a:moveTo>
                    <a:pt x="0" y="0"/>
                  </a:moveTo>
                  <a:lnTo>
                    <a:pt x="6995888" y="0"/>
                  </a:lnTo>
                  <a:lnTo>
                    <a:pt x="6995888" y="1864982"/>
                  </a:lnTo>
                  <a:lnTo>
                    <a:pt x="0" y="18649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47448" t="-45646" r="-12561" b="-44174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554780"/>
              <a:ext cx="6083907" cy="651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16"/>
                </a:lnSpc>
                <a:spcBef>
                  <a:spcPct val="0"/>
                </a:spcBef>
              </a:pPr>
              <a:r>
                <a:rPr lang="en-US" sz="2869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PROBLEM STATEMENT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6582B9C3-9EF9-7E96-6B57-76FEAECF76CD}"/>
              </a:ext>
            </a:extLst>
          </p:cNvPr>
          <p:cNvSpPr txBox="1"/>
          <p:nvPr/>
        </p:nvSpPr>
        <p:spPr>
          <a:xfrm>
            <a:off x="452838" y="2902683"/>
            <a:ext cx="173736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large amount of e-waste is collected through informal channels. Informal collectors are important to the recycling ecosystem, but they often lack transparent prices, direct access to authorized recyclers, safe-handling guidance and reliable transaction records.</a:t>
            </a:r>
          </a:p>
          <a:p>
            <a:endParaRPr lang="en-US" sz="2800" dirty="0"/>
          </a:p>
          <a:p>
            <a:r>
              <a:rPr lang="en-US" sz="2800" b="1" dirty="0"/>
              <a:t>Key difficulties:</a:t>
            </a:r>
          </a:p>
          <a:p>
            <a:r>
              <a:rPr lang="en-US" sz="2800" dirty="0"/>
              <a:t>• Collectors may receive unclear or unfair prices.</a:t>
            </a:r>
          </a:p>
          <a:p>
            <a:r>
              <a:rPr lang="en-US" sz="2800" dirty="0"/>
              <a:t>• Authorized recyclers have difficulty discovering and verifying collected material.</a:t>
            </a:r>
          </a:p>
          <a:p>
            <a:r>
              <a:rPr lang="en-US" sz="2800" dirty="0"/>
              <a:t>• Collection and handover records are often fragmented or paper-based.</a:t>
            </a:r>
          </a:p>
          <a:p>
            <a:r>
              <a:rPr lang="en-US" sz="2800" dirty="0"/>
              <a:t>• The journey of e-waste from collection to recycling is difficult to track.</a:t>
            </a:r>
          </a:p>
          <a:p>
            <a:r>
              <a:rPr lang="en-US" sz="2800" dirty="0"/>
              <a:t>• Unsafe handling of batteries, circuit boards and electronic components can create health and environmental risks.</a:t>
            </a:r>
          </a:p>
          <a:p>
            <a:r>
              <a:rPr lang="en-US" sz="2800" dirty="0"/>
              <a:t>• Poor connectivity and limited digital literacy reduce access to existing digital services.</a:t>
            </a:r>
          </a:p>
          <a:p>
            <a:endParaRPr lang="en-US" sz="2800" dirty="0"/>
          </a:p>
          <a:p>
            <a:r>
              <a:rPr lang="en-US" sz="2800" b="1" dirty="0"/>
              <a:t>Core problem</a:t>
            </a:r>
            <a:r>
              <a:rPr lang="en-US" sz="2800" dirty="0"/>
              <a:t>: There is no simple, accessible and traceable digital bridge between informal collectors and the formal recycling ecosystem.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649" y="87939"/>
            <a:ext cx="18150133" cy="10079944"/>
            <a:chOff x="0" y="0"/>
            <a:chExt cx="24200177" cy="13439925"/>
          </a:xfrm>
        </p:grpSpPr>
        <p:sp>
          <p:nvSpPr>
            <p:cNvPr id="3" name="Freeform 3"/>
            <p:cNvSpPr/>
            <p:nvPr/>
          </p:nvSpPr>
          <p:spPr>
            <a:xfrm>
              <a:off x="119793" y="217912"/>
              <a:ext cx="24080384" cy="13076492"/>
            </a:xfrm>
            <a:custGeom>
              <a:avLst/>
              <a:gdLst/>
              <a:ahLst/>
              <a:cxnLst/>
              <a:rect l="l" t="t" r="r" b="b"/>
              <a:pathLst>
                <a:path w="24080384" h="13076492">
                  <a:moveTo>
                    <a:pt x="0" y="0"/>
                  </a:moveTo>
                  <a:lnTo>
                    <a:pt x="24080384" y="0"/>
                  </a:lnTo>
                  <a:lnTo>
                    <a:pt x="24080384" y="13076492"/>
                  </a:lnTo>
                  <a:lnTo>
                    <a:pt x="0" y="13076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06" t="-2161" r="-707" b="-2667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2599871">
              <a:off x="1771323" y="317121"/>
              <a:ext cx="528062" cy="860652"/>
            </a:xfrm>
            <a:custGeom>
              <a:avLst/>
              <a:gdLst/>
              <a:ahLst/>
              <a:cxnLst/>
              <a:rect l="l" t="t" r="r" b="b"/>
              <a:pathLst>
                <a:path w="528062" h="860652">
                  <a:moveTo>
                    <a:pt x="0" y="0"/>
                  </a:moveTo>
                  <a:lnTo>
                    <a:pt x="528062" y="0"/>
                  </a:lnTo>
                  <a:lnTo>
                    <a:pt x="528062" y="860652"/>
                  </a:lnTo>
                  <a:lnTo>
                    <a:pt x="0" y="860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89270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2599871">
              <a:off x="2183713" y="314741"/>
              <a:ext cx="528062" cy="878112"/>
            </a:xfrm>
            <a:custGeom>
              <a:avLst/>
              <a:gdLst/>
              <a:ahLst/>
              <a:cxnLst/>
              <a:rect l="l" t="t" r="r" b="b"/>
              <a:pathLst>
                <a:path w="528062" h="878112">
                  <a:moveTo>
                    <a:pt x="0" y="0"/>
                  </a:moveTo>
                  <a:lnTo>
                    <a:pt x="528062" y="0"/>
                  </a:lnTo>
                  <a:lnTo>
                    <a:pt x="528062" y="878112"/>
                  </a:lnTo>
                  <a:lnTo>
                    <a:pt x="0" y="878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14" r="-92096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5400000">
              <a:off x="2129427" y="100530"/>
              <a:ext cx="528062" cy="878112"/>
            </a:xfrm>
            <a:custGeom>
              <a:avLst/>
              <a:gdLst/>
              <a:ahLst/>
              <a:cxnLst/>
              <a:rect l="l" t="t" r="r" b="b"/>
              <a:pathLst>
                <a:path w="528062" h="878112">
                  <a:moveTo>
                    <a:pt x="0" y="0"/>
                  </a:moveTo>
                  <a:lnTo>
                    <a:pt x="528062" y="0"/>
                  </a:lnTo>
                  <a:lnTo>
                    <a:pt x="528062" y="878112"/>
                  </a:lnTo>
                  <a:lnTo>
                    <a:pt x="0" y="878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14" r="-92096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803865" y="575909"/>
              <a:ext cx="2847154" cy="980339"/>
            </a:xfrm>
            <a:custGeom>
              <a:avLst/>
              <a:gdLst/>
              <a:ahLst/>
              <a:cxnLst/>
              <a:rect l="l" t="t" r="r" b="b"/>
              <a:pathLst>
                <a:path w="2847154" h="980339">
                  <a:moveTo>
                    <a:pt x="0" y="0"/>
                  </a:moveTo>
                  <a:lnTo>
                    <a:pt x="2847154" y="0"/>
                  </a:lnTo>
                  <a:lnTo>
                    <a:pt x="2847154" y="980339"/>
                  </a:lnTo>
                  <a:lnTo>
                    <a:pt x="0" y="980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5327940" y="539907"/>
              <a:ext cx="3091775" cy="964311"/>
            </a:xfrm>
            <a:custGeom>
              <a:avLst/>
              <a:gdLst/>
              <a:ahLst/>
              <a:cxnLst/>
              <a:rect l="l" t="t" r="r" b="b"/>
              <a:pathLst>
                <a:path w="3091775" h="964311">
                  <a:moveTo>
                    <a:pt x="0" y="0"/>
                  </a:moveTo>
                  <a:lnTo>
                    <a:pt x="3091774" y="0"/>
                  </a:lnTo>
                  <a:lnTo>
                    <a:pt x="3091774" y="964311"/>
                  </a:lnTo>
                  <a:lnTo>
                    <a:pt x="0" y="964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9" name="Group 9"/>
            <p:cNvGrpSpPr/>
            <p:nvPr/>
          </p:nvGrpSpPr>
          <p:grpSpPr>
            <a:xfrm>
              <a:off x="15366736" y="322929"/>
              <a:ext cx="1788924" cy="1309111"/>
              <a:chOff x="0" y="0"/>
              <a:chExt cx="298529" cy="21846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98529" cy="218460"/>
              </a:xfrm>
              <a:custGeom>
                <a:avLst/>
                <a:gdLst/>
                <a:ahLst/>
                <a:cxnLst/>
                <a:rect l="l" t="t" r="r" b="b"/>
                <a:pathLst>
                  <a:path w="298529" h="218460">
                    <a:moveTo>
                      <a:pt x="0" y="0"/>
                    </a:moveTo>
                    <a:lnTo>
                      <a:pt x="298529" y="0"/>
                    </a:lnTo>
                    <a:lnTo>
                      <a:pt x="298529" y="218460"/>
                    </a:lnTo>
                    <a:lnTo>
                      <a:pt x="0" y="21846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66675"/>
                <a:ext cx="298529" cy="285135"/>
              </a:xfrm>
              <a:prstGeom prst="rect">
                <a:avLst/>
              </a:prstGeom>
            </p:spPr>
            <p:txBody>
              <a:bodyPr lIns="32471" tIns="32471" rIns="32471" bIns="32471" rtlCol="0" anchor="ctr"/>
              <a:lstStyle/>
              <a:p>
                <a:pPr algn="ctr">
                  <a:lnSpc>
                    <a:spcPts val="5039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674985" y="347068"/>
              <a:ext cx="1172427" cy="1260834"/>
            </a:xfrm>
            <a:custGeom>
              <a:avLst/>
              <a:gdLst/>
              <a:ahLst/>
              <a:cxnLst/>
              <a:rect l="l" t="t" r="r" b="b"/>
              <a:pathLst>
                <a:path w="1172427" h="1260834">
                  <a:moveTo>
                    <a:pt x="0" y="0"/>
                  </a:moveTo>
                  <a:lnTo>
                    <a:pt x="1172426" y="0"/>
                  </a:lnTo>
                  <a:lnTo>
                    <a:pt x="1172426" y="1260834"/>
                  </a:lnTo>
                  <a:lnTo>
                    <a:pt x="0" y="1260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0918" r="-40918" b="-13102"/>
              </a:stretch>
            </a:blipFill>
          </p:spPr>
        </p:sp>
        <p:grpSp>
          <p:nvGrpSpPr>
            <p:cNvPr id="13" name="Group 13"/>
            <p:cNvGrpSpPr/>
            <p:nvPr/>
          </p:nvGrpSpPr>
          <p:grpSpPr>
            <a:xfrm>
              <a:off x="11641973" y="467581"/>
              <a:ext cx="3153263" cy="1269001"/>
              <a:chOff x="0" y="0"/>
              <a:chExt cx="542837" cy="21846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42837" cy="218460"/>
              </a:xfrm>
              <a:custGeom>
                <a:avLst/>
                <a:gdLst/>
                <a:ahLst/>
                <a:cxnLst/>
                <a:rect l="l" t="t" r="r" b="b"/>
                <a:pathLst>
                  <a:path w="542837" h="218460">
                    <a:moveTo>
                      <a:pt x="88388" y="0"/>
                    </a:moveTo>
                    <a:lnTo>
                      <a:pt x="454450" y="0"/>
                    </a:lnTo>
                    <a:cubicBezTo>
                      <a:pt x="503265" y="0"/>
                      <a:pt x="542837" y="39572"/>
                      <a:pt x="542837" y="88388"/>
                    </a:cubicBezTo>
                    <a:lnTo>
                      <a:pt x="542837" y="130072"/>
                    </a:lnTo>
                    <a:cubicBezTo>
                      <a:pt x="542837" y="178887"/>
                      <a:pt x="503265" y="218460"/>
                      <a:pt x="454450" y="218460"/>
                    </a:cubicBezTo>
                    <a:lnTo>
                      <a:pt x="88388" y="218460"/>
                    </a:lnTo>
                    <a:cubicBezTo>
                      <a:pt x="39572" y="218460"/>
                      <a:pt x="0" y="178887"/>
                      <a:pt x="0" y="130072"/>
                    </a:cubicBezTo>
                    <a:lnTo>
                      <a:pt x="0" y="88388"/>
                    </a:lnTo>
                    <a:cubicBezTo>
                      <a:pt x="0" y="39572"/>
                      <a:pt x="39572" y="0"/>
                      <a:pt x="8838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66675"/>
                <a:ext cx="542837" cy="285135"/>
              </a:xfrm>
              <a:prstGeom prst="rect">
                <a:avLst/>
              </a:prstGeom>
            </p:spPr>
            <p:txBody>
              <a:bodyPr lIns="31476" tIns="31476" rIns="31476" bIns="31476" rtlCol="0" anchor="ctr"/>
              <a:lstStyle/>
              <a:p>
                <a:pPr algn="ctr">
                  <a:lnSpc>
                    <a:spcPts val="5040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1859215" y="700664"/>
              <a:ext cx="2718779" cy="802835"/>
            </a:xfrm>
            <a:custGeom>
              <a:avLst/>
              <a:gdLst/>
              <a:ahLst/>
              <a:cxnLst/>
              <a:rect l="l" t="t" r="r" b="b"/>
              <a:pathLst>
                <a:path w="2718779" h="802835">
                  <a:moveTo>
                    <a:pt x="0" y="0"/>
                  </a:moveTo>
                  <a:lnTo>
                    <a:pt x="2718779" y="0"/>
                  </a:lnTo>
                  <a:lnTo>
                    <a:pt x="2718779" y="802834"/>
                  </a:lnTo>
                  <a:lnTo>
                    <a:pt x="0" y="802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9040200" y="500117"/>
              <a:ext cx="2155871" cy="1131923"/>
            </a:xfrm>
            <a:custGeom>
              <a:avLst/>
              <a:gdLst/>
              <a:ahLst/>
              <a:cxnLst/>
              <a:rect l="l" t="t" r="r" b="b"/>
              <a:pathLst>
                <a:path w="2155871" h="1131923">
                  <a:moveTo>
                    <a:pt x="0" y="0"/>
                  </a:moveTo>
                  <a:lnTo>
                    <a:pt x="2155871" y="0"/>
                  </a:lnTo>
                  <a:lnTo>
                    <a:pt x="2155871" y="1131923"/>
                  </a:lnTo>
                  <a:lnTo>
                    <a:pt x="0" y="1131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0848" t="-87578" r="-18185" b="-77228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 rot="5400000">
              <a:off x="4296376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3" y="0"/>
                  </a:lnTo>
                  <a:lnTo>
                    <a:pt x="1413653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 rot="5400000">
              <a:off x="8076446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 rot="5400000">
              <a:off x="10738503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 rot="5400000">
              <a:off x="14334452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0" y="12926593"/>
              <a:ext cx="447079" cy="513331"/>
            </a:xfrm>
            <a:custGeom>
              <a:avLst/>
              <a:gdLst/>
              <a:ahLst/>
              <a:cxnLst/>
              <a:rect l="l" t="t" r="r" b="b"/>
              <a:pathLst>
                <a:path w="447079" h="513331">
                  <a:moveTo>
                    <a:pt x="0" y="0"/>
                  </a:moveTo>
                  <a:lnTo>
                    <a:pt x="447079" y="0"/>
                  </a:lnTo>
                  <a:lnTo>
                    <a:pt x="447079" y="513332"/>
                  </a:lnTo>
                  <a:lnTo>
                    <a:pt x="0" y="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46410" r="-2261800" b="-794889"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23872891" y="12926593"/>
              <a:ext cx="327286" cy="513331"/>
            </a:xfrm>
            <a:custGeom>
              <a:avLst/>
              <a:gdLst/>
              <a:ahLst/>
              <a:cxnLst/>
              <a:rect l="l" t="t" r="r" b="b"/>
              <a:pathLst>
                <a:path w="327286" h="513331">
                  <a:moveTo>
                    <a:pt x="0" y="0"/>
                  </a:moveTo>
                  <a:lnTo>
                    <a:pt x="327286" y="0"/>
                  </a:lnTo>
                  <a:lnTo>
                    <a:pt x="327286" y="513332"/>
                  </a:lnTo>
                  <a:lnTo>
                    <a:pt x="0" y="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3189663" b="-794889"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 rot="-2449180">
              <a:off x="18577" y="108518"/>
              <a:ext cx="409925" cy="209368"/>
            </a:xfrm>
            <a:custGeom>
              <a:avLst/>
              <a:gdLst/>
              <a:ahLst/>
              <a:cxnLst/>
              <a:rect l="l" t="t" r="r" b="b"/>
              <a:pathLst>
                <a:path w="409925" h="209368">
                  <a:moveTo>
                    <a:pt x="0" y="0"/>
                  </a:moveTo>
                  <a:lnTo>
                    <a:pt x="409925" y="0"/>
                  </a:lnTo>
                  <a:lnTo>
                    <a:pt x="409925" y="209367"/>
                  </a:lnTo>
                  <a:lnTo>
                    <a:pt x="0" y="209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22294" t="-487293" r="-5831621" b="-4553559"/>
              </a:stretch>
            </a:blipFill>
          </p:spPr>
        </p:sp>
      </p:grpSp>
      <p:sp>
        <p:nvSpPr>
          <p:cNvPr id="25" name="Freeform 25"/>
          <p:cNvSpPr/>
          <p:nvPr/>
        </p:nvSpPr>
        <p:spPr>
          <a:xfrm>
            <a:off x="15601367" y="76238"/>
            <a:ext cx="2551067" cy="203144"/>
          </a:xfrm>
          <a:custGeom>
            <a:avLst/>
            <a:gdLst/>
            <a:ahLst/>
            <a:cxnLst/>
            <a:rect l="l" t="t" r="r" b="b"/>
            <a:pathLst>
              <a:path w="2551067" h="203144">
                <a:moveTo>
                  <a:pt x="0" y="0"/>
                </a:moveTo>
                <a:lnTo>
                  <a:pt x="2551066" y="0"/>
                </a:lnTo>
                <a:lnTo>
                  <a:pt x="2551066" y="203144"/>
                </a:lnTo>
                <a:lnTo>
                  <a:pt x="0" y="2031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82375" r="-641643" b="-3691381"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146980" y="1581693"/>
            <a:ext cx="5246916" cy="1398737"/>
            <a:chOff x="0" y="0"/>
            <a:chExt cx="6995888" cy="186498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995888" cy="1864982"/>
            </a:xfrm>
            <a:custGeom>
              <a:avLst/>
              <a:gdLst/>
              <a:ahLst/>
              <a:cxnLst/>
              <a:rect l="l" t="t" r="r" b="b"/>
              <a:pathLst>
                <a:path w="6995888" h="1864982">
                  <a:moveTo>
                    <a:pt x="0" y="0"/>
                  </a:moveTo>
                  <a:lnTo>
                    <a:pt x="6995888" y="0"/>
                  </a:lnTo>
                  <a:lnTo>
                    <a:pt x="6995888" y="1864982"/>
                  </a:lnTo>
                  <a:lnTo>
                    <a:pt x="0" y="18649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47448" t="-45646" r="-12561" b="-44174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554780"/>
              <a:ext cx="6083907" cy="651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16"/>
                </a:lnSpc>
                <a:spcBef>
                  <a:spcPct val="0"/>
                </a:spcBef>
              </a:pPr>
              <a:r>
                <a:rPr lang="en-US" sz="286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PROPOSED SOLUTION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753B4B0-5CC9-DA31-05DA-A0B3095344CC}"/>
              </a:ext>
            </a:extLst>
          </p:cNvPr>
          <p:cNvSpPr txBox="1"/>
          <p:nvPr/>
        </p:nvSpPr>
        <p:spPr>
          <a:xfrm>
            <a:off x="444803" y="2888393"/>
            <a:ext cx="170688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We propose a low-connectivity digital platform that connects e-waste collectors with authorized recyclers and manages the complete collection-to-recycling journey.</a:t>
            </a:r>
          </a:p>
          <a:p>
            <a:endParaRPr lang="en-US" sz="2800" dirty="0"/>
          </a:p>
          <a:p>
            <a:r>
              <a:rPr lang="en-US" sz="2800" b="1" dirty="0"/>
              <a:t>The platform will:</a:t>
            </a:r>
          </a:p>
          <a:p>
            <a:r>
              <a:rPr lang="en-US" sz="2800" dirty="0"/>
              <a:t>• Allow collectors to register and create e-waste lots.</a:t>
            </a:r>
          </a:p>
          <a:p>
            <a:r>
              <a:rPr lang="en-US" sz="2800" dirty="0"/>
              <a:t>• Record category, weight, condition and location.</a:t>
            </a:r>
          </a:p>
          <a:p>
            <a:r>
              <a:rPr lang="en-US" sz="2800" dirty="0"/>
              <a:t>• Estimate a fair value for collected materials.</a:t>
            </a:r>
          </a:p>
          <a:p>
            <a:r>
              <a:rPr lang="en-US" sz="2800" dirty="0"/>
              <a:t>• Warn collectors about unusually low or suspicious offers.</a:t>
            </a:r>
          </a:p>
          <a:p>
            <a:r>
              <a:rPr lang="en-US" sz="2800" dirty="0"/>
              <a:t>• Help recyclers discover and accept available lots.</a:t>
            </a:r>
          </a:p>
          <a:p>
            <a:r>
              <a:rPr lang="en-US" sz="2800" dirty="0"/>
              <a:t>• Maintain digital handover and transaction records.</a:t>
            </a:r>
          </a:p>
          <a:p>
            <a:r>
              <a:rPr lang="en-US" sz="2800" dirty="0"/>
              <a:t>• Track status from collection to recycling.</a:t>
            </a:r>
          </a:p>
          <a:p>
            <a:r>
              <a:rPr lang="en-US" sz="2800" dirty="0"/>
              <a:t>• Provide collector earnings and transaction history.</a:t>
            </a:r>
          </a:p>
          <a:p>
            <a:r>
              <a:rPr lang="en-US" sz="2800" dirty="0"/>
              <a:t>• Offer pictorial and multilingual safety guidance.</a:t>
            </a:r>
          </a:p>
          <a:p>
            <a:r>
              <a:rPr lang="en-US" sz="2800" dirty="0"/>
              <a:t>• Provide an administrator dashboard for monitoring.</a:t>
            </a:r>
          </a:p>
          <a:p>
            <a:endParaRPr lang="en-US" sz="2800" dirty="0"/>
          </a:p>
          <a:p>
            <a:r>
              <a:rPr lang="en-US" sz="2800" b="1" dirty="0"/>
              <a:t>Core idea:</a:t>
            </a:r>
            <a:r>
              <a:rPr lang="en-US" sz="2800" dirty="0"/>
              <a:t> Collector → E-waste lot → Fair value → Recycler matching → Handover → Recycling record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649" y="87939"/>
            <a:ext cx="18150133" cy="10079944"/>
            <a:chOff x="0" y="0"/>
            <a:chExt cx="24200177" cy="13439925"/>
          </a:xfrm>
        </p:grpSpPr>
        <p:sp>
          <p:nvSpPr>
            <p:cNvPr id="3" name="Freeform 3"/>
            <p:cNvSpPr/>
            <p:nvPr/>
          </p:nvSpPr>
          <p:spPr>
            <a:xfrm>
              <a:off x="119793" y="217912"/>
              <a:ext cx="24080384" cy="13076492"/>
            </a:xfrm>
            <a:custGeom>
              <a:avLst/>
              <a:gdLst/>
              <a:ahLst/>
              <a:cxnLst/>
              <a:rect l="l" t="t" r="r" b="b"/>
              <a:pathLst>
                <a:path w="24080384" h="13076492">
                  <a:moveTo>
                    <a:pt x="0" y="0"/>
                  </a:moveTo>
                  <a:lnTo>
                    <a:pt x="24080384" y="0"/>
                  </a:lnTo>
                  <a:lnTo>
                    <a:pt x="24080384" y="13076492"/>
                  </a:lnTo>
                  <a:lnTo>
                    <a:pt x="0" y="13076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06" t="-2161" r="-707" b="-2667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2599871">
              <a:off x="1771323" y="317121"/>
              <a:ext cx="528062" cy="860652"/>
            </a:xfrm>
            <a:custGeom>
              <a:avLst/>
              <a:gdLst/>
              <a:ahLst/>
              <a:cxnLst/>
              <a:rect l="l" t="t" r="r" b="b"/>
              <a:pathLst>
                <a:path w="528062" h="860652">
                  <a:moveTo>
                    <a:pt x="0" y="0"/>
                  </a:moveTo>
                  <a:lnTo>
                    <a:pt x="528062" y="0"/>
                  </a:lnTo>
                  <a:lnTo>
                    <a:pt x="528062" y="860652"/>
                  </a:lnTo>
                  <a:lnTo>
                    <a:pt x="0" y="860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89270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2599871">
              <a:off x="2183713" y="314741"/>
              <a:ext cx="528062" cy="878112"/>
            </a:xfrm>
            <a:custGeom>
              <a:avLst/>
              <a:gdLst/>
              <a:ahLst/>
              <a:cxnLst/>
              <a:rect l="l" t="t" r="r" b="b"/>
              <a:pathLst>
                <a:path w="528062" h="878112">
                  <a:moveTo>
                    <a:pt x="0" y="0"/>
                  </a:moveTo>
                  <a:lnTo>
                    <a:pt x="528062" y="0"/>
                  </a:lnTo>
                  <a:lnTo>
                    <a:pt x="528062" y="878112"/>
                  </a:lnTo>
                  <a:lnTo>
                    <a:pt x="0" y="878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14" r="-92096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5400000">
              <a:off x="2129427" y="100530"/>
              <a:ext cx="528062" cy="878112"/>
            </a:xfrm>
            <a:custGeom>
              <a:avLst/>
              <a:gdLst/>
              <a:ahLst/>
              <a:cxnLst/>
              <a:rect l="l" t="t" r="r" b="b"/>
              <a:pathLst>
                <a:path w="528062" h="878112">
                  <a:moveTo>
                    <a:pt x="0" y="0"/>
                  </a:moveTo>
                  <a:lnTo>
                    <a:pt x="528062" y="0"/>
                  </a:lnTo>
                  <a:lnTo>
                    <a:pt x="528062" y="878112"/>
                  </a:lnTo>
                  <a:lnTo>
                    <a:pt x="0" y="878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14" r="-92096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803865" y="575909"/>
              <a:ext cx="2847154" cy="980339"/>
            </a:xfrm>
            <a:custGeom>
              <a:avLst/>
              <a:gdLst/>
              <a:ahLst/>
              <a:cxnLst/>
              <a:rect l="l" t="t" r="r" b="b"/>
              <a:pathLst>
                <a:path w="2847154" h="980339">
                  <a:moveTo>
                    <a:pt x="0" y="0"/>
                  </a:moveTo>
                  <a:lnTo>
                    <a:pt x="2847154" y="0"/>
                  </a:lnTo>
                  <a:lnTo>
                    <a:pt x="2847154" y="980339"/>
                  </a:lnTo>
                  <a:lnTo>
                    <a:pt x="0" y="980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5327940" y="539907"/>
              <a:ext cx="3091775" cy="964311"/>
            </a:xfrm>
            <a:custGeom>
              <a:avLst/>
              <a:gdLst/>
              <a:ahLst/>
              <a:cxnLst/>
              <a:rect l="l" t="t" r="r" b="b"/>
              <a:pathLst>
                <a:path w="3091775" h="964311">
                  <a:moveTo>
                    <a:pt x="0" y="0"/>
                  </a:moveTo>
                  <a:lnTo>
                    <a:pt x="3091774" y="0"/>
                  </a:lnTo>
                  <a:lnTo>
                    <a:pt x="3091774" y="964311"/>
                  </a:lnTo>
                  <a:lnTo>
                    <a:pt x="0" y="964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9" name="Group 9"/>
            <p:cNvGrpSpPr/>
            <p:nvPr/>
          </p:nvGrpSpPr>
          <p:grpSpPr>
            <a:xfrm>
              <a:off x="15366736" y="322929"/>
              <a:ext cx="1788924" cy="1309111"/>
              <a:chOff x="0" y="0"/>
              <a:chExt cx="298529" cy="21846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98529" cy="218460"/>
              </a:xfrm>
              <a:custGeom>
                <a:avLst/>
                <a:gdLst/>
                <a:ahLst/>
                <a:cxnLst/>
                <a:rect l="l" t="t" r="r" b="b"/>
                <a:pathLst>
                  <a:path w="298529" h="218460">
                    <a:moveTo>
                      <a:pt x="0" y="0"/>
                    </a:moveTo>
                    <a:lnTo>
                      <a:pt x="298529" y="0"/>
                    </a:lnTo>
                    <a:lnTo>
                      <a:pt x="298529" y="218460"/>
                    </a:lnTo>
                    <a:lnTo>
                      <a:pt x="0" y="21846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66675"/>
                <a:ext cx="298529" cy="285135"/>
              </a:xfrm>
              <a:prstGeom prst="rect">
                <a:avLst/>
              </a:prstGeom>
            </p:spPr>
            <p:txBody>
              <a:bodyPr lIns="32471" tIns="32471" rIns="32471" bIns="32471" rtlCol="0" anchor="ctr"/>
              <a:lstStyle/>
              <a:p>
                <a:pPr algn="ctr">
                  <a:lnSpc>
                    <a:spcPts val="5039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674985" y="347068"/>
              <a:ext cx="1172427" cy="1260834"/>
            </a:xfrm>
            <a:custGeom>
              <a:avLst/>
              <a:gdLst/>
              <a:ahLst/>
              <a:cxnLst/>
              <a:rect l="l" t="t" r="r" b="b"/>
              <a:pathLst>
                <a:path w="1172427" h="1260834">
                  <a:moveTo>
                    <a:pt x="0" y="0"/>
                  </a:moveTo>
                  <a:lnTo>
                    <a:pt x="1172426" y="0"/>
                  </a:lnTo>
                  <a:lnTo>
                    <a:pt x="1172426" y="1260834"/>
                  </a:lnTo>
                  <a:lnTo>
                    <a:pt x="0" y="1260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0918" r="-40918" b="-13102"/>
              </a:stretch>
            </a:blipFill>
          </p:spPr>
        </p:sp>
        <p:grpSp>
          <p:nvGrpSpPr>
            <p:cNvPr id="13" name="Group 13"/>
            <p:cNvGrpSpPr/>
            <p:nvPr/>
          </p:nvGrpSpPr>
          <p:grpSpPr>
            <a:xfrm>
              <a:off x="11641973" y="467581"/>
              <a:ext cx="3153263" cy="1269001"/>
              <a:chOff x="0" y="0"/>
              <a:chExt cx="542837" cy="21846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42837" cy="218460"/>
              </a:xfrm>
              <a:custGeom>
                <a:avLst/>
                <a:gdLst/>
                <a:ahLst/>
                <a:cxnLst/>
                <a:rect l="l" t="t" r="r" b="b"/>
                <a:pathLst>
                  <a:path w="542837" h="218460">
                    <a:moveTo>
                      <a:pt x="88388" y="0"/>
                    </a:moveTo>
                    <a:lnTo>
                      <a:pt x="454450" y="0"/>
                    </a:lnTo>
                    <a:cubicBezTo>
                      <a:pt x="503265" y="0"/>
                      <a:pt x="542837" y="39572"/>
                      <a:pt x="542837" y="88388"/>
                    </a:cubicBezTo>
                    <a:lnTo>
                      <a:pt x="542837" y="130072"/>
                    </a:lnTo>
                    <a:cubicBezTo>
                      <a:pt x="542837" y="178887"/>
                      <a:pt x="503265" y="218460"/>
                      <a:pt x="454450" y="218460"/>
                    </a:cubicBezTo>
                    <a:lnTo>
                      <a:pt x="88388" y="218460"/>
                    </a:lnTo>
                    <a:cubicBezTo>
                      <a:pt x="39572" y="218460"/>
                      <a:pt x="0" y="178887"/>
                      <a:pt x="0" y="130072"/>
                    </a:cubicBezTo>
                    <a:lnTo>
                      <a:pt x="0" y="88388"/>
                    </a:lnTo>
                    <a:cubicBezTo>
                      <a:pt x="0" y="39572"/>
                      <a:pt x="39572" y="0"/>
                      <a:pt x="8838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66675"/>
                <a:ext cx="542837" cy="285135"/>
              </a:xfrm>
              <a:prstGeom prst="rect">
                <a:avLst/>
              </a:prstGeom>
            </p:spPr>
            <p:txBody>
              <a:bodyPr lIns="31476" tIns="31476" rIns="31476" bIns="31476" rtlCol="0" anchor="ctr"/>
              <a:lstStyle/>
              <a:p>
                <a:pPr algn="ctr">
                  <a:lnSpc>
                    <a:spcPts val="5040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1859215" y="700664"/>
              <a:ext cx="2718779" cy="802835"/>
            </a:xfrm>
            <a:custGeom>
              <a:avLst/>
              <a:gdLst/>
              <a:ahLst/>
              <a:cxnLst/>
              <a:rect l="l" t="t" r="r" b="b"/>
              <a:pathLst>
                <a:path w="2718779" h="802835">
                  <a:moveTo>
                    <a:pt x="0" y="0"/>
                  </a:moveTo>
                  <a:lnTo>
                    <a:pt x="2718779" y="0"/>
                  </a:lnTo>
                  <a:lnTo>
                    <a:pt x="2718779" y="802834"/>
                  </a:lnTo>
                  <a:lnTo>
                    <a:pt x="0" y="802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9040200" y="500117"/>
              <a:ext cx="2155871" cy="1131923"/>
            </a:xfrm>
            <a:custGeom>
              <a:avLst/>
              <a:gdLst/>
              <a:ahLst/>
              <a:cxnLst/>
              <a:rect l="l" t="t" r="r" b="b"/>
              <a:pathLst>
                <a:path w="2155871" h="1131923">
                  <a:moveTo>
                    <a:pt x="0" y="0"/>
                  </a:moveTo>
                  <a:lnTo>
                    <a:pt x="2155871" y="0"/>
                  </a:lnTo>
                  <a:lnTo>
                    <a:pt x="2155871" y="1131923"/>
                  </a:lnTo>
                  <a:lnTo>
                    <a:pt x="0" y="1131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0848" t="-87578" r="-18185" b="-77228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 rot="5400000">
              <a:off x="4296376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3" y="0"/>
                  </a:lnTo>
                  <a:lnTo>
                    <a:pt x="1413653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 rot="5400000">
              <a:off x="8076446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 rot="5400000">
              <a:off x="10738503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 rot="5400000">
              <a:off x="14334452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0" y="12926593"/>
              <a:ext cx="447079" cy="513331"/>
            </a:xfrm>
            <a:custGeom>
              <a:avLst/>
              <a:gdLst/>
              <a:ahLst/>
              <a:cxnLst/>
              <a:rect l="l" t="t" r="r" b="b"/>
              <a:pathLst>
                <a:path w="447079" h="513331">
                  <a:moveTo>
                    <a:pt x="0" y="0"/>
                  </a:moveTo>
                  <a:lnTo>
                    <a:pt x="447079" y="0"/>
                  </a:lnTo>
                  <a:lnTo>
                    <a:pt x="447079" y="513332"/>
                  </a:lnTo>
                  <a:lnTo>
                    <a:pt x="0" y="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46410" r="-2261800" b="-794889"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23872891" y="12926593"/>
              <a:ext cx="327286" cy="513331"/>
            </a:xfrm>
            <a:custGeom>
              <a:avLst/>
              <a:gdLst/>
              <a:ahLst/>
              <a:cxnLst/>
              <a:rect l="l" t="t" r="r" b="b"/>
              <a:pathLst>
                <a:path w="327286" h="513331">
                  <a:moveTo>
                    <a:pt x="0" y="0"/>
                  </a:moveTo>
                  <a:lnTo>
                    <a:pt x="327286" y="0"/>
                  </a:lnTo>
                  <a:lnTo>
                    <a:pt x="327286" y="513332"/>
                  </a:lnTo>
                  <a:lnTo>
                    <a:pt x="0" y="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3189663" b="-794889"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 rot="-2449180">
              <a:off x="18577" y="108518"/>
              <a:ext cx="409925" cy="209368"/>
            </a:xfrm>
            <a:custGeom>
              <a:avLst/>
              <a:gdLst/>
              <a:ahLst/>
              <a:cxnLst/>
              <a:rect l="l" t="t" r="r" b="b"/>
              <a:pathLst>
                <a:path w="409925" h="209368">
                  <a:moveTo>
                    <a:pt x="0" y="0"/>
                  </a:moveTo>
                  <a:lnTo>
                    <a:pt x="409925" y="0"/>
                  </a:lnTo>
                  <a:lnTo>
                    <a:pt x="409925" y="209367"/>
                  </a:lnTo>
                  <a:lnTo>
                    <a:pt x="0" y="209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22294" t="-487293" r="-5831621" b="-4553559"/>
              </a:stretch>
            </a:blipFill>
          </p:spPr>
        </p:sp>
      </p:grpSp>
      <p:sp>
        <p:nvSpPr>
          <p:cNvPr id="25" name="Freeform 25"/>
          <p:cNvSpPr/>
          <p:nvPr/>
        </p:nvSpPr>
        <p:spPr>
          <a:xfrm>
            <a:off x="15601367" y="76238"/>
            <a:ext cx="2551067" cy="203144"/>
          </a:xfrm>
          <a:custGeom>
            <a:avLst/>
            <a:gdLst/>
            <a:ahLst/>
            <a:cxnLst/>
            <a:rect l="l" t="t" r="r" b="b"/>
            <a:pathLst>
              <a:path w="2551067" h="203144">
                <a:moveTo>
                  <a:pt x="0" y="0"/>
                </a:moveTo>
                <a:lnTo>
                  <a:pt x="2551066" y="0"/>
                </a:lnTo>
                <a:lnTo>
                  <a:pt x="2551066" y="203144"/>
                </a:lnTo>
                <a:lnTo>
                  <a:pt x="0" y="2031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82375" r="-641643" b="-3691381"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152400" y="1548535"/>
            <a:ext cx="3916462" cy="1465053"/>
            <a:chOff x="0" y="0"/>
            <a:chExt cx="5221950" cy="195340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221950" cy="1953404"/>
            </a:xfrm>
            <a:custGeom>
              <a:avLst/>
              <a:gdLst/>
              <a:ahLst/>
              <a:cxnLst/>
              <a:rect l="l" t="t" r="r" b="b"/>
              <a:pathLst>
                <a:path w="5221950" h="1953404">
                  <a:moveTo>
                    <a:pt x="0" y="0"/>
                  </a:moveTo>
                  <a:lnTo>
                    <a:pt x="5221950" y="0"/>
                  </a:lnTo>
                  <a:lnTo>
                    <a:pt x="5221950" y="1953404"/>
                  </a:lnTo>
                  <a:lnTo>
                    <a:pt x="0" y="1953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97538" t="-41317" r="-16828" b="-39911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128051" y="570655"/>
              <a:ext cx="4004118" cy="749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76"/>
                </a:lnSpc>
                <a:spcBef>
                  <a:spcPct val="0"/>
                </a:spcBef>
              </a:pPr>
              <a:r>
                <a:rPr lang="en-US" sz="326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OBJECTIVE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EC5729F4-7C09-F1D2-615F-E7C66284C37F}"/>
              </a:ext>
            </a:extLst>
          </p:cNvPr>
          <p:cNvSpPr txBox="1"/>
          <p:nvPr/>
        </p:nvSpPr>
        <p:spPr>
          <a:xfrm>
            <a:off x="795738" y="2961968"/>
            <a:ext cx="166878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800" dirty="0"/>
              <a:t>Connect informal collectors with authorized recyclers.</a:t>
            </a:r>
          </a:p>
          <a:p>
            <a:r>
              <a:rPr lang="en-US" sz="2800" dirty="0"/>
              <a:t>2.   Create digital records for collected e-waste lots.</a:t>
            </a:r>
          </a:p>
          <a:p>
            <a:r>
              <a:rPr lang="en-US" sz="2800" dirty="0"/>
              <a:t>3.   Provide transparent price estimates for common e-waste categories.</a:t>
            </a:r>
          </a:p>
          <a:p>
            <a:r>
              <a:rPr lang="en-US" sz="2800" dirty="0"/>
              <a:t>4.   Identify potentially unfair or abnormal price offers.</a:t>
            </a:r>
          </a:p>
          <a:p>
            <a:r>
              <a:rPr lang="en-US" sz="2800" dirty="0"/>
              <a:t>5.   Match e-waste lots with suitable recyclers.</a:t>
            </a:r>
          </a:p>
          <a:p>
            <a:r>
              <a:rPr lang="en-US" sz="2800" dirty="0"/>
              <a:t>6.   Track each lot from creation to recycling.</a:t>
            </a:r>
          </a:p>
          <a:p>
            <a:r>
              <a:rPr lang="en-US" sz="2800" dirty="0"/>
              <a:t>7.   Maintain collector earnings and transaction history.</a:t>
            </a:r>
          </a:p>
          <a:p>
            <a:r>
              <a:rPr lang="en-US" sz="2800" dirty="0"/>
              <a:t>8.   Provide simple safety instructions for handling e-waste.</a:t>
            </a:r>
          </a:p>
          <a:p>
            <a:r>
              <a:rPr lang="en-US" sz="2800" dirty="0"/>
              <a:t>9.   Support low-end devices and unreliable internet connections.</a:t>
            </a:r>
          </a:p>
          <a:p>
            <a:r>
              <a:rPr lang="en-US" sz="2800" dirty="0"/>
              <a:t>10. Provide dashboards for collectors, recyclers and administrators.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649" y="87939"/>
            <a:ext cx="18150133" cy="10079944"/>
            <a:chOff x="0" y="0"/>
            <a:chExt cx="24200177" cy="13439925"/>
          </a:xfrm>
        </p:grpSpPr>
        <p:sp>
          <p:nvSpPr>
            <p:cNvPr id="3" name="Freeform 3"/>
            <p:cNvSpPr/>
            <p:nvPr/>
          </p:nvSpPr>
          <p:spPr>
            <a:xfrm>
              <a:off x="119793" y="217912"/>
              <a:ext cx="24080384" cy="13076492"/>
            </a:xfrm>
            <a:custGeom>
              <a:avLst/>
              <a:gdLst/>
              <a:ahLst/>
              <a:cxnLst/>
              <a:rect l="l" t="t" r="r" b="b"/>
              <a:pathLst>
                <a:path w="24080384" h="13076492">
                  <a:moveTo>
                    <a:pt x="0" y="0"/>
                  </a:moveTo>
                  <a:lnTo>
                    <a:pt x="24080384" y="0"/>
                  </a:lnTo>
                  <a:lnTo>
                    <a:pt x="24080384" y="13076492"/>
                  </a:lnTo>
                  <a:lnTo>
                    <a:pt x="0" y="13076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06" t="-2161" r="-707" b="-2667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2599871">
              <a:off x="1771323" y="317121"/>
              <a:ext cx="528062" cy="860652"/>
            </a:xfrm>
            <a:custGeom>
              <a:avLst/>
              <a:gdLst/>
              <a:ahLst/>
              <a:cxnLst/>
              <a:rect l="l" t="t" r="r" b="b"/>
              <a:pathLst>
                <a:path w="528062" h="860652">
                  <a:moveTo>
                    <a:pt x="0" y="0"/>
                  </a:moveTo>
                  <a:lnTo>
                    <a:pt x="528062" y="0"/>
                  </a:lnTo>
                  <a:lnTo>
                    <a:pt x="528062" y="860652"/>
                  </a:lnTo>
                  <a:lnTo>
                    <a:pt x="0" y="860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89270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2599871">
              <a:off x="2183713" y="314741"/>
              <a:ext cx="528062" cy="878112"/>
            </a:xfrm>
            <a:custGeom>
              <a:avLst/>
              <a:gdLst/>
              <a:ahLst/>
              <a:cxnLst/>
              <a:rect l="l" t="t" r="r" b="b"/>
              <a:pathLst>
                <a:path w="528062" h="878112">
                  <a:moveTo>
                    <a:pt x="0" y="0"/>
                  </a:moveTo>
                  <a:lnTo>
                    <a:pt x="528062" y="0"/>
                  </a:lnTo>
                  <a:lnTo>
                    <a:pt x="528062" y="878112"/>
                  </a:lnTo>
                  <a:lnTo>
                    <a:pt x="0" y="878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14" r="-92096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5400000">
              <a:off x="2129427" y="100530"/>
              <a:ext cx="528062" cy="878112"/>
            </a:xfrm>
            <a:custGeom>
              <a:avLst/>
              <a:gdLst/>
              <a:ahLst/>
              <a:cxnLst/>
              <a:rect l="l" t="t" r="r" b="b"/>
              <a:pathLst>
                <a:path w="528062" h="878112">
                  <a:moveTo>
                    <a:pt x="0" y="0"/>
                  </a:moveTo>
                  <a:lnTo>
                    <a:pt x="528062" y="0"/>
                  </a:lnTo>
                  <a:lnTo>
                    <a:pt x="528062" y="878112"/>
                  </a:lnTo>
                  <a:lnTo>
                    <a:pt x="0" y="878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14" r="-92096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803865" y="575909"/>
              <a:ext cx="2847154" cy="980339"/>
            </a:xfrm>
            <a:custGeom>
              <a:avLst/>
              <a:gdLst/>
              <a:ahLst/>
              <a:cxnLst/>
              <a:rect l="l" t="t" r="r" b="b"/>
              <a:pathLst>
                <a:path w="2847154" h="980339">
                  <a:moveTo>
                    <a:pt x="0" y="0"/>
                  </a:moveTo>
                  <a:lnTo>
                    <a:pt x="2847154" y="0"/>
                  </a:lnTo>
                  <a:lnTo>
                    <a:pt x="2847154" y="980339"/>
                  </a:lnTo>
                  <a:lnTo>
                    <a:pt x="0" y="980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5327940" y="539907"/>
              <a:ext cx="3091775" cy="964311"/>
            </a:xfrm>
            <a:custGeom>
              <a:avLst/>
              <a:gdLst/>
              <a:ahLst/>
              <a:cxnLst/>
              <a:rect l="l" t="t" r="r" b="b"/>
              <a:pathLst>
                <a:path w="3091775" h="964311">
                  <a:moveTo>
                    <a:pt x="0" y="0"/>
                  </a:moveTo>
                  <a:lnTo>
                    <a:pt x="3091774" y="0"/>
                  </a:lnTo>
                  <a:lnTo>
                    <a:pt x="3091774" y="964311"/>
                  </a:lnTo>
                  <a:lnTo>
                    <a:pt x="0" y="964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9" name="Group 9"/>
            <p:cNvGrpSpPr/>
            <p:nvPr/>
          </p:nvGrpSpPr>
          <p:grpSpPr>
            <a:xfrm>
              <a:off x="15366736" y="322929"/>
              <a:ext cx="1788924" cy="1309111"/>
              <a:chOff x="0" y="0"/>
              <a:chExt cx="298529" cy="21846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98529" cy="218460"/>
              </a:xfrm>
              <a:custGeom>
                <a:avLst/>
                <a:gdLst/>
                <a:ahLst/>
                <a:cxnLst/>
                <a:rect l="l" t="t" r="r" b="b"/>
                <a:pathLst>
                  <a:path w="298529" h="218460">
                    <a:moveTo>
                      <a:pt x="0" y="0"/>
                    </a:moveTo>
                    <a:lnTo>
                      <a:pt x="298529" y="0"/>
                    </a:lnTo>
                    <a:lnTo>
                      <a:pt x="298529" y="218460"/>
                    </a:lnTo>
                    <a:lnTo>
                      <a:pt x="0" y="21846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66675"/>
                <a:ext cx="298529" cy="285135"/>
              </a:xfrm>
              <a:prstGeom prst="rect">
                <a:avLst/>
              </a:prstGeom>
            </p:spPr>
            <p:txBody>
              <a:bodyPr lIns="32471" tIns="32471" rIns="32471" bIns="32471" rtlCol="0" anchor="ctr"/>
              <a:lstStyle/>
              <a:p>
                <a:pPr algn="ctr">
                  <a:lnSpc>
                    <a:spcPts val="5039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674985" y="347068"/>
              <a:ext cx="1172427" cy="1260834"/>
            </a:xfrm>
            <a:custGeom>
              <a:avLst/>
              <a:gdLst/>
              <a:ahLst/>
              <a:cxnLst/>
              <a:rect l="l" t="t" r="r" b="b"/>
              <a:pathLst>
                <a:path w="1172427" h="1260834">
                  <a:moveTo>
                    <a:pt x="0" y="0"/>
                  </a:moveTo>
                  <a:lnTo>
                    <a:pt x="1172426" y="0"/>
                  </a:lnTo>
                  <a:lnTo>
                    <a:pt x="1172426" y="1260834"/>
                  </a:lnTo>
                  <a:lnTo>
                    <a:pt x="0" y="1260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0918" r="-40918" b="-13102"/>
              </a:stretch>
            </a:blipFill>
          </p:spPr>
        </p:sp>
        <p:grpSp>
          <p:nvGrpSpPr>
            <p:cNvPr id="13" name="Group 13"/>
            <p:cNvGrpSpPr/>
            <p:nvPr/>
          </p:nvGrpSpPr>
          <p:grpSpPr>
            <a:xfrm>
              <a:off x="11641973" y="467581"/>
              <a:ext cx="3153263" cy="1269001"/>
              <a:chOff x="0" y="0"/>
              <a:chExt cx="542837" cy="21846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42837" cy="218460"/>
              </a:xfrm>
              <a:custGeom>
                <a:avLst/>
                <a:gdLst/>
                <a:ahLst/>
                <a:cxnLst/>
                <a:rect l="l" t="t" r="r" b="b"/>
                <a:pathLst>
                  <a:path w="542837" h="218460">
                    <a:moveTo>
                      <a:pt x="88388" y="0"/>
                    </a:moveTo>
                    <a:lnTo>
                      <a:pt x="454450" y="0"/>
                    </a:lnTo>
                    <a:cubicBezTo>
                      <a:pt x="503265" y="0"/>
                      <a:pt x="542837" y="39572"/>
                      <a:pt x="542837" y="88388"/>
                    </a:cubicBezTo>
                    <a:lnTo>
                      <a:pt x="542837" y="130072"/>
                    </a:lnTo>
                    <a:cubicBezTo>
                      <a:pt x="542837" y="178887"/>
                      <a:pt x="503265" y="218460"/>
                      <a:pt x="454450" y="218460"/>
                    </a:cubicBezTo>
                    <a:lnTo>
                      <a:pt x="88388" y="218460"/>
                    </a:lnTo>
                    <a:cubicBezTo>
                      <a:pt x="39572" y="218460"/>
                      <a:pt x="0" y="178887"/>
                      <a:pt x="0" y="130072"/>
                    </a:cubicBezTo>
                    <a:lnTo>
                      <a:pt x="0" y="88388"/>
                    </a:lnTo>
                    <a:cubicBezTo>
                      <a:pt x="0" y="39572"/>
                      <a:pt x="39572" y="0"/>
                      <a:pt x="8838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66675"/>
                <a:ext cx="542837" cy="285135"/>
              </a:xfrm>
              <a:prstGeom prst="rect">
                <a:avLst/>
              </a:prstGeom>
            </p:spPr>
            <p:txBody>
              <a:bodyPr lIns="31476" tIns="31476" rIns="31476" bIns="31476" rtlCol="0" anchor="ctr"/>
              <a:lstStyle/>
              <a:p>
                <a:pPr algn="ctr">
                  <a:lnSpc>
                    <a:spcPts val="5040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1859215" y="700664"/>
              <a:ext cx="2718779" cy="802835"/>
            </a:xfrm>
            <a:custGeom>
              <a:avLst/>
              <a:gdLst/>
              <a:ahLst/>
              <a:cxnLst/>
              <a:rect l="l" t="t" r="r" b="b"/>
              <a:pathLst>
                <a:path w="2718779" h="802835">
                  <a:moveTo>
                    <a:pt x="0" y="0"/>
                  </a:moveTo>
                  <a:lnTo>
                    <a:pt x="2718779" y="0"/>
                  </a:lnTo>
                  <a:lnTo>
                    <a:pt x="2718779" y="802834"/>
                  </a:lnTo>
                  <a:lnTo>
                    <a:pt x="0" y="802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9040200" y="500117"/>
              <a:ext cx="2155871" cy="1131923"/>
            </a:xfrm>
            <a:custGeom>
              <a:avLst/>
              <a:gdLst/>
              <a:ahLst/>
              <a:cxnLst/>
              <a:rect l="l" t="t" r="r" b="b"/>
              <a:pathLst>
                <a:path w="2155871" h="1131923">
                  <a:moveTo>
                    <a:pt x="0" y="0"/>
                  </a:moveTo>
                  <a:lnTo>
                    <a:pt x="2155871" y="0"/>
                  </a:lnTo>
                  <a:lnTo>
                    <a:pt x="2155871" y="1131923"/>
                  </a:lnTo>
                  <a:lnTo>
                    <a:pt x="0" y="1131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0848" t="-87578" r="-18185" b="-77228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 rot="5400000">
              <a:off x="4296376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3" y="0"/>
                  </a:lnTo>
                  <a:lnTo>
                    <a:pt x="1413653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 rot="5400000">
              <a:off x="8076446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 rot="5400000">
              <a:off x="10738503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 rot="5400000">
              <a:off x="14334452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0" y="12926593"/>
              <a:ext cx="447079" cy="513331"/>
            </a:xfrm>
            <a:custGeom>
              <a:avLst/>
              <a:gdLst/>
              <a:ahLst/>
              <a:cxnLst/>
              <a:rect l="l" t="t" r="r" b="b"/>
              <a:pathLst>
                <a:path w="447079" h="513331">
                  <a:moveTo>
                    <a:pt x="0" y="0"/>
                  </a:moveTo>
                  <a:lnTo>
                    <a:pt x="447079" y="0"/>
                  </a:lnTo>
                  <a:lnTo>
                    <a:pt x="447079" y="513332"/>
                  </a:lnTo>
                  <a:lnTo>
                    <a:pt x="0" y="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46410" r="-2261800" b="-794889"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23872891" y="12926593"/>
              <a:ext cx="327286" cy="513331"/>
            </a:xfrm>
            <a:custGeom>
              <a:avLst/>
              <a:gdLst/>
              <a:ahLst/>
              <a:cxnLst/>
              <a:rect l="l" t="t" r="r" b="b"/>
              <a:pathLst>
                <a:path w="327286" h="513331">
                  <a:moveTo>
                    <a:pt x="0" y="0"/>
                  </a:moveTo>
                  <a:lnTo>
                    <a:pt x="327286" y="0"/>
                  </a:lnTo>
                  <a:lnTo>
                    <a:pt x="327286" y="513332"/>
                  </a:lnTo>
                  <a:lnTo>
                    <a:pt x="0" y="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3189663" b="-794889"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 rot="-2449180">
              <a:off x="18577" y="108518"/>
              <a:ext cx="409925" cy="209368"/>
            </a:xfrm>
            <a:custGeom>
              <a:avLst/>
              <a:gdLst/>
              <a:ahLst/>
              <a:cxnLst/>
              <a:rect l="l" t="t" r="r" b="b"/>
              <a:pathLst>
                <a:path w="409925" h="209368">
                  <a:moveTo>
                    <a:pt x="0" y="0"/>
                  </a:moveTo>
                  <a:lnTo>
                    <a:pt x="409925" y="0"/>
                  </a:lnTo>
                  <a:lnTo>
                    <a:pt x="409925" y="209367"/>
                  </a:lnTo>
                  <a:lnTo>
                    <a:pt x="0" y="209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22294" t="-487293" r="-5831621" b="-4553559"/>
              </a:stretch>
            </a:blipFill>
          </p:spPr>
        </p:sp>
      </p:grpSp>
      <p:sp>
        <p:nvSpPr>
          <p:cNvPr id="25" name="Freeform 25"/>
          <p:cNvSpPr/>
          <p:nvPr/>
        </p:nvSpPr>
        <p:spPr>
          <a:xfrm>
            <a:off x="15601367" y="76238"/>
            <a:ext cx="2551067" cy="203144"/>
          </a:xfrm>
          <a:custGeom>
            <a:avLst/>
            <a:gdLst/>
            <a:ahLst/>
            <a:cxnLst/>
            <a:rect l="l" t="t" r="r" b="b"/>
            <a:pathLst>
              <a:path w="2551067" h="203144">
                <a:moveTo>
                  <a:pt x="0" y="0"/>
                </a:moveTo>
                <a:lnTo>
                  <a:pt x="2551066" y="0"/>
                </a:lnTo>
                <a:lnTo>
                  <a:pt x="2551066" y="203144"/>
                </a:lnTo>
                <a:lnTo>
                  <a:pt x="0" y="2031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82375" r="-641643" b="-3691381"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135818" y="1548535"/>
            <a:ext cx="4753175" cy="1465053"/>
            <a:chOff x="0" y="0"/>
            <a:chExt cx="6337567" cy="1953404"/>
          </a:xfrm>
        </p:grpSpPr>
        <p:sp>
          <p:nvSpPr>
            <p:cNvPr id="27" name="Freeform 27"/>
            <p:cNvSpPr/>
            <p:nvPr/>
          </p:nvSpPr>
          <p:spPr>
            <a:xfrm>
              <a:off x="21062" y="0"/>
              <a:ext cx="6316505" cy="1953404"/>
            </a:xfrm>
            <a:custGeom>
              <a:avLst/>
              <a:gdLst/>
              <a:ahLst/>
              <a:cxnLst/>
              <a:rect l="l" t="t" r="r" b="b"/>
              <a:pathLst>
                <a:path w="6316505" h="1953404">
                  <a:moveTo>
                    <a:pt x="0" y="0"/>
                  </a:moveTo>
                  <a:lnTo>
                    <a:pt x="6316505" y="0"/>
                  </a:lnTo>
                  <a:lnTo>
                    <a:pt x="6316505" y="1953404"/>
                  </a:lnTo>
                  <a:lnTo>
                    <a:pt x="0" y="1953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71971" t="-41317" r="-5248" b="-39911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570655"/>
              <a:ext cx="4843407" cy="749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76"/>
                </a:lnSpc>
                <a:spcBef>
                  <a:spcPct val="0"/>
                </a:spcBef>
              </a:pPr>
              <a:r>
                <a:rPr lang="en-US" sz="326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METHODOLOGY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627C7AC-4D3B-58E8-ADE5-7C1F4A304F82}"/>
              </a:ext>
            </a:extLst>
          </p:cNvPr>
          <p:cNvSpPr txBox="1"/>
          <p:nvPr/>
        </p:nvSpPr>
        <p:spPr>
          <a:xfrm>
            <a:off x="354958" y="2966797"/>
            <a:ext cx="172212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800" dirty="0"/>
              <a:t>User and requirement analysis: Identify the needs of collectors, recyclers and administrators and design simple forms and instructions.</a:t>
            </a:r>
          </a:p>
          <a:p>
            <a:pPr marL="514350" indent="-514350">
              <a:buAutoNum type="arabicPeriod" startAt="2"/>
            </a:pPr>
            <a:r>
              <a:rPr lang="en-US" sz="2800" dirty="0"/>
              <a:t>E-waste catalogue creation: Create a catalogue for mobile phones, laptops, batteries, cables, chargers, circuit boards, printers and televisions.</a:t>
            </a:r>
          </a:p>
          <a:p>
            <a:pPr marL="514350" indent="-514350">
              <a:buAutoNum type="arabicPeriod" startAt="2"/>
            </a:pPr>
            <a:r>
              <a:rPr lang="en-US" sz="2800" dirty="0"/>
              <a:t>Fair-value estimation: Estimate a price using category, weight, condition, age and a reference price table.</a:t>
            </a:r>
          </a:p>
          <a:p>
            <a:pPr algn="ctr"/>
            <a:r>
              <a:rPr lang="en-US" sz="2800" dirty="0"/>
              <a:t>Estimated value = Base price per kg × Weight × Condition factor</a:t>
            </a:r>
          </a:p>
          <a:p>
            <a:pPr marL="514350" indent="-514350">
              <a:buAutoNum type="arabicPeriod" startAt="2"/>
            </a:pPr>
            <a:r>
              <a:rPr lang="en-US" sz="2800" dirty="0"/>
              <a:t>Price fairness analysis: Compare an offered price with the estimated range and flag significantly low or high offers.</a:t>
            </a:r>
          </a:p>
          <a:p>
            <a:pPr marL="514350" indent="-514350">
              <a:buAutoNum type="arabicPeriod" startAt="2"/>
            </a:pPr>
            <a:r>
              <a:rPr lang="en-US" sz="2800" dirty="0"/>
              <a:t>Lot management and matching: Create a unique lot ID, display lots to recyclers and match by category, location and capability.</a:t>
            </a:r>
          </a:p>
          <a:p>
            <a:pPr marL="514350" indent="-514350">
              <a:buAutoNum type="arabicPeriod" startAt="2"/>
            </a:pPr>
            <a:r>
              <a:rPr lang="en-US" sz="2800" dirty="0"/>
              <a:t>Traceability: Record every status change from creation to recycling.</a:t>
            </a:r>
          </a:p>
          <a:p>
            <a:pPr marL="514350" indent="-514350">
              <a:buAutoNum type="arabicPeriod" startAt="2"/>
            </a:pPr>
            <a:r>
              <a:rPr lang="en-US" sz="2800" dirty="0"/>
              <a:t>Dashboard and reporting: Display collection volume, transactions, earnings, pending handovers, price warnings and analytics.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649" y="87939"/>
            <a:ext cx="18150133" cy="10079944"/>
            <a:chOff x="0" y="0"/>
            <a:chExt cx="24200177" cy="13439925"/>
          </a:xfrm>
        </p:grpSpPr>
        <p:sp>
          <p:nvSpPr>
            <p:cNvPr id="3" name="Freeform 3"/>
            <p:cNvSpPr/>
            <p:nvPr/>
          </p:nvSpPr>
          <p:spPr>
            <a:xfrm>
              <a:off x="119793" y="217912"/>
              <a:ext cx="24080384" cy="13076492"/>
            </a:xfrm>
            <a:custGeom>
              <a:avLst/>
              <a:gdLst/>
              <a:ahLst/>
              <a:cxnLst/>
              <a:rect l="l" t="t" r="r" b="b"/>
              <a:pathLst>
                <a:path w="24080384" h="13076492">
                  <a:moveTo>
                    <a:pt x="0" y="0"/>
                  </a:moveTo>
                  <a:lnTo>
                    <a:pt x="24080384" y="0"/>
                  </a:lnTo>
                  <a:lnTo>
                    <a:pt x="24080384" y="13076492"/>
                  </a:lnTo>
                  <a:lnTo>
                    <a:pt x="0" y="13076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06" t="-2161" r="-707" b="-2667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2599871">
              <a:off x="1771323" y="317121"/>
              <a:ext cx="528062" cy="860652"/>
            </a:xfrm>
            <a:custGeom>
              <a:avLst/>
              <a:gdLst/>
              <a:ahLst/>
              <a:cxnLst/>
              <a:rect l="l" t="t" r="r" b="b"/>
              <a:pathLst>
                <a:path w="528062" h="860652">
                  <a:moveTo>
                    <a:pt x="0" y="0"/>
                  </a:moveTo>
                  <a:lnTo>
                    <a:pt x="528062" y="0"/>
                  </a:lnTo>
                  <a:lnTo>
                    <a:pt x="528062" y="860652"/>
                  </a:lnTo>
                  <a:lnTo>
                    <a:pt x="0" y="860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89270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2599871">
              <a:off x="2183713" y="314741"/>
              <a:ext cx="528062" cy="878112"/>
            </a:xfrm>
            <a:custGeom>
              <a:avLst/>
              <a:gdLst/>
              <a:ahLst/>
              <a:cxnLst/>
              <a:rect l="l" t="t" r="r" b="b"/>
              <a:pathLst>
                <a:path w="528062" h="878112">
                  <a:moveTo>
                    <a:pt x="0" y="0"/>
                  </a:moveTo>
                  <a:lnTo>
                    <a:pt x="528062" y="0"/>
                  </a:lnTo>
                  <a:lnTo>
                    <a:pt x="528062" y="878112"/>
                  </a:lnTo>
                  <a:lnTo>
                    <a:pt x="0" y="878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14" r="-92096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5400000">
              <a:off x="2129427" y="100530"/>
              <a:ext cx="528062" cy="878112"/>
            </a:xfrm>
            <a:custGeom>
              <a:avLst/>
              <a:gdLst/>
              <a:ahLst/>
              <a:cxnLst/>
              <a:rect l="l" t="t" r="r" b="b"/>
              <a:pathLst>
                <a:path w="528062" h="878112">
                  <a:moveTo>
                    <a:pt x="0" y="0"/>
                  </a:moveTo>
                  <a:lnTo>
                    <a:pt x="528062" y="0"/>
                  </a:lnTo>
                  <a:lnTo>
                    <a:pt x="528062" y="878112"/>
                  </a:lnTo>
                  <a:lnTo>
                    <a:pt x="0" y="878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14" r="-92096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803865" y="575909"/>
              <a:ext cx="2847154" cy="980339"/>
            </a:xfrm>
            <a:custGeom>
              <a:avLst/>
              <a:gdLst/>
              <a:ahLst/>
              <a:cxnLst/>
              <a:rect l="l" t="t" r="r" b="b"/>
              <a:pathLst>
                <a:path w="2847154" h="980339">
                  <a:moveTo>
                    <a:pt x="0" y="0"/>
                  </a:moveTo>
                  <a:lnTo>
                    <a:pt x="2847154" y="0"/>
                  </a:lnTo>
                  <a:lnTo>
                    <a:pt x="2847154" y="980339"/>
                  </a:lnTo>
                  <a:lnTo>
                    <a:pt x="0" y="980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5327940" y="539907"/>
              <a:ext cx="3091775" cy="964311"/>
            </a:xfrm>
            <a:custGeom>
              <a:avLst/>
              <a:gdLst/>
              <a:ahLst/>
              <a:cxnLst/>
              <a:rect l="l" t="t" r="r" b="b"/>
              <a:pathLst>
                <a:path w="3091775" h="964311">
                  <a:moveTo>
                    <a:pt x="0" y="0"/>
                  </a:moveTo>
                  <a:lnTo>
                    <a:pt x="3091774" y="0"/>
                  </a:lnTo>
                  <a:lnTo>
                    <a:pt x="3091774" y="964311"/>
                  </a:lnTo>
                  <a:lnTo>
                    <a:pt x="0" y="964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9" name="Group 9"/>
            <p:cNvGrpSpPr/>
            <p:nvPr/>
          </p:nvGrpSpPr>
          <p:grpSpPr>
            <a:xfrm>
              <a:off x="15366736" y="322929"/>
              <a:ext cx="1788924" cy="1309111"/>
              <a:chOff x="0" y="0"/>
              <a:chExt cx="298529" cy="21846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98529" cy="218460"/>
              </a:xfrm>
              <a:custGeom>
                <a:avLst/>
                <a:gdLst/>
                <a:ahLst/>
                <a:cxnLst/>
                <a:rect l="l" t="t" r="r" b="b"/>
                <a:pathLst>
                  <a:path w="298529" h="218460">
                    <a:moveTo>
                      <a:pt x="0" y="0"/>
                    </a:moveTo>
                    <a:lnTo>
                      <a:pt x="298529" y="0"/>
                    </a:lnTo>
                    <a:lnTo>
                      <a:pt x="298529" y="218460"/>
                    </a:lnTo>
                    <a:lnTo>
                      <a:pt x="0" y="21846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66675"/>
                <a:ext cx="298529" cy="285135"/>
              </a:xfrm>
              <a:prstGeom prst="rect">
                <a:avLst/>
              </a:prstGeom>
            </p:spPr>
            <p:txBody>
              <a:bodyPr lIns="32471" tIns="32471" rIns="32471" bIns="32471" rtlCol="0" anchor="ctr"/>
              <a:lstStyle/>
              <a:p>
                <a:pPr algn="ctr">
                  <a:lnSpc>
                    <a:spcPts val="5039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674985" y="347068"/>
              <a:ext cx="1172427" cy="1260834"/>
            </a:xfrm>
            <a:custGeom>
              <a:avLst/>
              <a:gdLst/>
              <a:ahLst/>
              <a:cxnLst/>
              <a:rect l="l" t="t" r="r" b="b"/>
              <a:pathLst>
                <a:path w="1172427" h="1260834">
                  <a:moveTo>
                    <a:pt x="0" y="0"/>
                  </a:moveTo>
                  <a:lnTo>
                    <a:pt x="1172426" y="0"/>
                  </a:lnTo>
                  <a:lnTo>
                    <a:pt x="1172426" y="1260834"/>
                  </a:lnTo>
                  <a:lnTo>
                    <a:pt x="0" y="1260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0918" r="-40918" b="-13102"/>
              </a:stretch>
            </a:blipFill>
          </p:spPr>
        </p:sp>
        <p:grpSp>
          <p:nvGrpSpPr>
            <p:cNvPr id="13" name="Group 13"/>
            <p:cNvGrpSpPr/>
            <p:nvPr/>
          </p:nvGrpSpPr>
          <p:grpSpPr>
            <a:xfrm>
              <a:off x="11641973" y="467581"/>
              <a:ext cx="3153263" cy="1269001"/>
              <a:chOff x="0" y="0"/>
              <a:chExt cx="542837" cy="21846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42837" cy="218460"/>
              </a:xfrm>
              <a:custGeom>
                <a:avLst/>
                <a:gdLst/>
                <a:ahLst/>
                <a:cxnLst/>
                <a:rect l="l" t="t" r="r" b="b"/>
                <a:pathLst>
                  <a:path w="542837" h="218460">
                    <a:moveTo>
                      <a:pt x="88388" y="0"/>
                    </a:moveTo>
                    <a:lnTo>
                      <a:pt x="454450" y="0"/>
                    </a:lnTo>
                    <a:cubicBezTo>
                      <a:pt x="503265" y="0"/>
                      <a:pt x="542837" y="39572"/>
                      <a:pt x="542837" y="88388"/>
                    </a:cubicBezTo>
                    <a:lnTo>
                      <a:pt x="542837" y="130072"/>
                    </a:lnTo>
                    <a:cubicBezTo>
                      <a:pt x="542837" y="178887"/>
                      <a:pt x="503265" y="218460"/>
                      <a:pt x="454450" y="218460"/>
                    </a:cubicBezTo>
                    <a:lnTo>
                      <a:pt x="88388" y="218460"/>
                    </a:lnTo>
                    <a:cubicBezTo>
                      <a:pt x="39572" y="218460"/>
                      <a:pt x="0" y="178887"/>
                      <a:pt x="0" y="130072"/>
                    </a:cubicBezTo>
                    <a:lnTo>
                      <a:pt x="0" y="88388"/>
                    </a:lnTo>
                    <a:cubicBezTo>
                      <a:pt x="0" y="39572"/>
                      <a:pt x="39572" y="0"/>
                      <a:pt x="8838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66675"/>
                <a:ext cx="542837" cy="285135"/>
              </a:xfrm>
              <a:prstGeom prst="rect">
                <a:avLst/>
              </a:prstGeom>
            </p:spPr>
            <p:txBody>
              <a:bodyPr lIns="31476" tIns="31476" rIns="31476" bIns="31476" rtlCol="0" anchor="ctr"/>
              <a:lstStyle/>
              <a:p>
                <a:pPr algn="ctr">
                  <a:lnSpc>
                    <a:spcPts val="5040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1859215" y="700664"/>
              <a:ext cx="2718779" cy="802835"/>
            </a:xfrm>
            <a:custGeom>
              <a:avLst/>
              <a:gdLst/>
              <a:ahLst/>
              <a:cxnLst/>
              <a:rect l="l" t="t" r="r" b="b"/>
              <a:pathLst>
                <a:path w="2718779" h="802835">
                  <a:moveTo>
                    <a:pt x="0" y="0"/>
                  </a:moveTo>
                  <a:lnTo>
                    <a:pt x="2718779" y="0"/>
                  </a:lnTo>
                  <a:lnTo>
                    <a:pt x="2718779" y="802834"/>
                  </a:lnTo>
                  <a:lnTo>
                    <a:pt x="0" y="802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9040200" y="500117"/>
              <a:ext cx="2155871" cy="1131923"/>
            </a:xfrm>
            <a:custGeom>
              <a:avLst/>
              <a:gdLst/>
              <a:ahLst/>
              <a:cxnLst/>
              <a:rect l="l" t="t" r="r" b="b"/>
              <a:pathLst>
                <a:path w="2155871" h="1131923">
                  <a:moveTo>
                    <a:pt x="0" y="0"/>
                  </a:moveTo>
                  <a:lnTo>
                    <a:pt x="2155871" y="0"/>
                  </a:lnTo>
                  <a:lnTo>
                    <a:pt x="2155871" y="1131923"/>
                  </a:lnTo>
                  <a:lnTo>
                    <a:pt x="0" y="1131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0848" t="-87578" r="-18185" b="-77228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 rot="5400000">
              <a:off x="4296376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3" y="0"/>
                  </a:lnTo>
                  <a:lnTo>
                    <a:pt x="1413653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 rot="5400000">
              <a:off x="8076446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 rot="5400000">
              <a:off x="10738503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 rot="5400000">
              <a:off x="14334452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0" y="12926593"/>
              <a:ext cx="447079" cy="513331"/>
            </a:xfrm>
            <a:custGeom>
              <a:avLst/>
              <a:gdLst/>
              <a:ahLst/>
              <a:cxnLst/>
              <a:rect l="l" t="t" r="r" b="b"/>
              <a:pathLst>
                <a:path w="447079" h="513331">
                  <a:moveTo>
                    <a:pt x="0" y="0"/>
                  </a:moveTo>
                  <a:lnTo>
                    <a:pt x="447079" y="0"/>
                  </a:lnTo>
                  <a:lnTo>
                    <a:pt x="447079" y="513332"/>
                  </a:lnTo>
                  <a:lnTo>
                    <a:pt x="0" y="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46410" r="-2261800" b="-794889"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23872891" y="12926593"/>
              <a:ext cx="327286" cy="513331"/>
            </a:xfrm>
            <a:custGeom>
              <a:avLst/>
              <a:gdLst/>
              <a:ahLst/>
              <a:cxnLst/>
              <a:rect l="l" t="t" r="r" b="b"/>
              <a:pathLst>
                <a:path w="327286" h="513331">
                  <a:moveTo>
                    <a:pt x="0" y="0"/>
                  </a:moveTo>
                  <a:lnTo>
                    <a:pt x="327286" y="0"/>
                  </a:lnTo>
                  <a:lnTo>
                    <a:pt x="327286" y="513332"/>
                  </a:lnTo>
                  <a:lnTo>
                    <a:pt x="0" y="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3189663" b="-794889"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 rot="-2449180">
              <a:off x="18577" y="108518"/>
              <a:ext cx="409925" cy="209368"/>
            </a:xfrm>
            <a:custGeom>
              <a:avLst/>
              <a:gdLst/>
              <a:ahLst/>
              <a:cxnLst/>
              <a:rect l="l" t="t" r="r" b="b"/>
              <a:pathLst>
                <a:path w="409925" h="209368">
                  <a:moveTo>
                    <a:pt x="0" y="0"/>
                  </a:moveTo>
                  <a:lnTo>
                    <a:pt x="409925" y="0"/>
                  </a:lnTo>
                  <a:lnTo>
                    <a:pt x="409925" y="209367"/>
                  </a:lnTo>
                  <a:lnTo>
                    <a:pt x="0" y="209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22294" t="-487293" r="-5831621" b="-4553559"/>
              </a:stretch>
            </a:blipFill>
          </p:spPr>
        </p:sp>
      </p:grpSp>
      <p:sp>
        <p:nvSpPr>
          <p:cNvPr id="25" name="Freeform 25"/>
          <p:cNvSpPr/>
          <p:nvPr/>
        </p:nvSpPr>
        <p:spPr>
          <a:xfrm>
            <a:off x="15601367" y="76238"/>
            <a:ext cx="2551067" cy="203144"/>
          </a:xfrm>
          <a:custGeom>
            <a:avLst/>
            <a:gdLst/>
            <a:ahLst/>
            <a:cxnLst/>
            <a:rect l="l" t="t" r="r" b="b"/>
            <a:pathLst>
              <a:path w="2551067" h="203144">
                <a:moveTo>
                  <a:pt x="0" y="0"/>
                </a:moveTo>
                <a:lnTo>
                  <a:pt x="2551066" y="0"/>
                </a:lnTo>
                <a:lnTo>
                  <a:pt x="2551066" y="203144"/>
                </a:lnTo>
                <a:lnTo>
                  <a:pt x="0" y="2031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82375" r="-641643" b="-3691381"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135818" y="1548535"/>
            <a:ext cx="4753175" cy="1465053"/>
            <a:chOff x="0" y="0"/>
            <a:chExt cx="6337567" cy="1953404"/>
          </a:xfrm>
        </p:grpSpPr>
        <p:sp>
          <p:nvSpPr>
            <p:cNvPr id="27" name="Freeform 27"/>
            <p:cNvSpPr/>
            <p:nvPr/>
          </p:nvSpPr>
          <p:spPr>
            <a:xfrm>
              <a:off x="21062" y="0"/>
              <a:ext cx="6316505" cy="1953404"/>
            </a:xfrm>
            <a:custGeom>
              <a:avLst/>
              <a:gdLst/>
              <a:ahLst/>
              <a:cxnLst/>
              <a:rect l="l" t="t" r="r" b="b"/>
              <a:pathLst>
                <a:path w="6316505" h="1953404">
                  <a:moveTo>
                    <a:pt x="0" y="0"/>
                  </a:moveTo>
                  <a:lnTo>
                    <a:pt x="6316505" y="0"/>
                  </a:lnTo>
                  <a:lnTo>
                    <a:pt x="6316505" y="1953404"/>
                  </a:lnTo>
                  <a:lnTo>
                    <a:pt x="0" y="1953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71971" t="-41317" r="-5248" b="-39911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570655"/>
              <a:ext cx="4843407" cy="749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76"/>
                </a:lnSpc>
                <a:spcBef>
                  <a:spcPct val="0"/>
                </a:spcBef>
              </a:pPr>
              <a:r>
                <a:rPr lang="en-US" sz="326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WORKFLOW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E1AD922-AFE6-3E11-20AC-482BBAAF762B}"/>
              </a:ext>
            </a:extLst>
          </p:cNvPr>
          <p:cNvSpPr txBox="1"/>
          <p:nvPr/>
        </p:nvSpPr>
        <p:spPr>
          <a:xfrm>
            <a:off x="914400" y="3013588"/>
            <a:ext cx="13258800" cy="4415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8737D90-F745-27CE-FCF9-F4EC4AAF04A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224" y="2784346"/>
            <a:ext cx="12232841" cy="69827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649" y="87939"/>
            <a:ext cx="18150133" cy="10079944"/>
            <a:chOff x="0" y="0"/>
            <a:chExt cx="24200177" cy="13439925"/>
          </a:xfrm>
        </p:grpSpPr>
        <p:sp>
          <p:nvSpPr>
            <p:cNvPr id="3" name="Freeform 3"/>
            <p:cNvSpPr/>
            <p:nvPr/>
          </p:nvSpPr>
          <p:spPr>
            <a:xfrm>
              <a:off x="119793" y="217912"/>
              <a:ext cx="24080384" cy="13076492"/>
            </a:xfrm>
            <a:custGeom>
              <a:avLst/>
              <a:gdLst/>
              <a:ahLst/>
              <a:cxnLst/>
              <a:rect l="l" t="t" r="r" b="b"/>
              <a:pathLst>
                <a:path w="24080384" h="13076492">
                  <a:moveTo>
                    <a:pt x="0" y="0"/>
                  </a:moveTo>
                  <a:lnTo>
                    <a:pt x="24080384" y="0"/>
                  </a:lnTo>
                  <a:lnTo>
                    <a:pt x="24080384" y="13076492"/>
                  </a:lnTo>
                  <a:lnTo>
                    <a:pt x="0" y="13076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06" t="-2161" r="-707" b="-2667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2599871">
              <a:off x="1771323" y="317121"/>
              <a:ext cx="528062" cy="860652"/>
            </a:xfrm>
            <a:custGeom>
              <a:avLst/>
              <a:gdLst/>
              <a:ahLst/>
              <a:cxnLst/>
              <a:rect l="l" t="t" r="r" b="b"/>
              <a:pathLst>
                <a:path w="528062" h="860652">
                  <a:moveTo>
                    <a:pt x="0" y="0"/>
                  </a:moveTo>
                  <a:lnTo>
                    <a:pt x="528062" y="0"/>
                  </a:lnTo>
                  <a:lnTo>
                    <a:pt x="528062" y="860652"/>
                  </a:lnTo>
                  <a:lnTo>
                    <a:pt x="0" y="860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89270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2599871">
              <a:off x="2183713" y="314741"/>
              <a:ext cx="528062" cy="878112"/>
            </a:xfrm>
            <a:custGeom>
              <a:avLst/>
              <a:gdLst/>
              <a:ahLst/>
              <a:cxnLst/>
              <a:rect l="l" t="t" r="r" b="b"/>
              <a:pathLst>
                <a:path w="528062" h="878112">
                  <a:moveTo>
                    <a:pt x="0" y="0"/>
                  </a:moveTo>
                  <a:lnTo>
                    <a:pt x="528062" y="0"/>
                  </a:lnTo>
                  <a:lnTo>
                    <a:pt x="528062" y="878112"/>
                  </a:lnTo>
                  <a:lnTo>
                    <a:pt x="0" y="878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14" r="-92096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5400000">
              <a:off x="2129427" y="100530"/>
              <a:ext cx="528062" cy="878112"/>
            </a:xfrm>
            <a:custGeom>
              <a:avLst/>
              <a:gdLst/>
              <a:ahLst/>
              <a:cxnLst/>
              <a:rect l="l" t="t" r="r" b="b"/>
              <a:pathLst>
                <a:path w="528062" h="878112">
                  <a:moveTo>
                    <a:pt x="0" y="0"/>
                  </a:moveTo>
                  <a:lnTo>
                    <a:pt x="528062" y="0"/>
                  </a:lnTo>
                  <a:lnTo>
                    <a:pt x="528062" y="878112"/>
                  </a:lnTo>
                  <a:lnTo>
                    <a:pt x="0" y="878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14" r="-92096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803865" y="575909"/>
              <a:ext cx="2847154" cy="980339"/>
            </a:xfrm>
            <a:custGeom>
              <a:avLst/>
              <a:gdLst/>
              <a:ahLst/>
              <a:cxnLst/>
              <a:rect l="l" t="t" r="r" b="b"/>
              <a:pathLst>
                <a:path w="2847154" h="980339">
                  <a:moveTo>
                    <a:pt x="0" y="0"/>
                  </a:moveTo>
                  <a:lnTo>
                    <a:pt x="2847154" y="0"/>
                  </a:lnTo>
                  <a:lnTo>
                    <a:pt x="2847154" y="980339"/>
                  </a:lnTo>
                  <a:lnTo>
                    <a:pt x="0" y="980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5327940" y="539907"/>
              <a:ext cx="3091775" cy="964311"/>
            </a:xfrm>
            <a:custGeom>
              <a:avLst/>
              <a:gdLst/>
              <a:ahLst/>
              <a:cxnLst/>
              <a:rect l="l" t="t" r="r" b="b"/>
              <a:pathLst>
                <a:path w="3091775" h="964311">
                  <a:moveTo>
                    <a:pt x="0" y="0"/>
                  </a:moveTo>
                  <a:lnTo>
                    <a:pt x="3091774" y="0"/>
                  </a:lnTo>
                  <a:lnTo>
                    <a:pt x="3091774" y="964311"/>
                  </a:lnTo>
                  <a:lnTo>
                    <a:pt x="0" y="964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9" name="Group 9"/>
            <p:cNvGrpSpPr/>
            <p:nvPr/>
          </p:nvGrpSpPr>
          <p:grpSpPr>
            <a:xfrm>
              <a:off x="15366736" y="322929"/>
              <a:ext cx="1788924" cy="1309111"/>
              <a:chOff x="0" y="0"/>
              <a:chExt cx="298529" cy="21846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98529" cy="218460"/>
              </a:xfrm>
              <a:custGeom>
                <a:avLst/>
                <a:gdLst/>
                <a:ahLst/>
                <a:cxnLst/>
                <a:rect l="l" t="t" r="r" b="b"/>
                <a:pathLst>
                  <a:path w="298529" h="218460">
                    <a:moveTo>
                      <a:pt x="0" y="0"/>
                    </a:moveTo>
                    <a:lnTo>
                      <a:pt x="298529" y="0"/>
                    </a:lnTo>
                    <a:lnTo>
                      <a:pt x="298529" y="218460"/>
                    </a:lnTo>
                    <a:lnTo>
                      <a:pt x="0" y="21846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66675"/>
                <a:ext cx="298529" cy="285135"/>
              </a:xfrm>
              <a:prstGeom prst="rect">
                <a:avLst/>
              </a:prstGeom>
            </p:spPr>
            <p:txBody>
              <a:bodyPr lIns="32471" tIns="32471" rIns="32471" bIns="32471" rtlCol="0" anchor="ctr"/>
              <a:lstStyle/>
              <a:p>
                <a:pPr algn="ctr">
                  <a:lnSpc>
                    <a:spcPts val="5039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674985" y="347068"/>
              <a:ext cx="1172427" cy="1260834"/>
            </a:xfrm>
            <a:custGeom>
              <a:avLst/>
              <a:gdLst/>
              <a:ahLst/>
              <a:cxnLst/>
              <a:rect l="l" t="t" r="r" b="b"/>
              <a:pathLst>
                <a:path w="1172427" h="1260834">
                  <a:moveTo>
                    <a:pt x="0" y="0"/>
                  </a:moveTo>
                  <a:lnTo>
                    <a:pt x="1172426" y="0"/>
                  </a:lnTo>
                  <a:lnTo>
                    <a:pt x="1172426" y="1260834"/>
                  </a:lnTo>
                  <a:lnTo>
                    <a:pt x="0" y="1260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0918" r="-40918" b="-13102"/>
              </a:stretch>
            </a:blipFill>
          </p:spPr>
        </p:sp>
        <p:grpSp>
          <p:nvGrpSpPr>
            <p:cNvPr id="13" name="Group 13"/>
            <p:cNvGrpSpPr/>
            <p:nvPr/>
          </p:nvGrpSpPr>
          <p:grpSpPr>
            <a:xfrm>
              <a:off x="11641973" y="467581"/>
              <a:ext cx="3153263" cy="1269001"/>
              <a:chOff x="0" y="0"/>
              <a:chExt cx="542837" cy="21846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42837" cy="218460"/>
              </a:xfrm>
              <a:custGeom>
                <a:avLst/>
                <a:gdLst/>
                <a:ahLst/>
                <a:cxnLst/>
                <a:rect l="l" t="t" r="r" b="b"/>
                <a:pathLst>
                  <a:path w="542837" h="218460">
                    <a:moveTo>
                      <a:pt x="88388" y="0"/>
                    </a:moveTo>
                    <a:lnTo>
                      <a:pt x="454450" y="0"/>
                    </a:lnTo>
                    <a:cubicBezTo>
                      <a:pt x="503265" y="0"/>
                      <a:pt x="542837" y="39572"/>
                      <a:pt x="542837" y="88388"/>
                    </a:cubicBezTo>
                    <a:lnTo>
                      <a:pt x="542837" y="130072"/>
                    </a:lnTo>
                    <a:cubicBezTo>
                      <a:pt x="542837" y="178887"/>
                      <a:pt x="503265" y="218460"/>
                      <a:pt x="454450" y="218460"/>
                    </a:cubicBezTo>
                    <a:lnTo>
                      <a:pt x="88388" y="218460"/>
                    </a:lnTo>
                    <a:cubicBezTo>
                      <a:pt x="39572" y="218460"/>
                      <a:pt x="0" y="178887"/>
                      <a:pt x="0" y="130072"/>
                    </a:cubicBezTo>
                    <a:lnTo>
                      <a:pt x="0" y="88388"/>
                    </a:lnTo>
                    <a:cubicBezTo>
                      <a:pt x="0" y="39572"/>
                      <a:pt x="39572" y="0"/>
                      <a:pt x="8838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66675"/>
                <a:ext cx="542837" cy="285135"/>
              </a:xfrm>
              <a:prstGeom prst="rect">
                <a:avLst/>
              </a:prstGeom>
            </p:spPr>
            <p:txBody>
              <a:bodyPr lIns="31476" tIns="31476" rIns="31476" bIns="31476" rtlCol="0" anchor="ctr"/>
              <a:lstStyle/>
              <a:p>
                <a:pPr algn="ctr">
                  <a:lnSpc>
                    <a:spcPts val="5040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1859215" y="700664"/>
              <a:ext cx="2718779" cy="802835"/>
            </a:xfrm>
            <a:custGeom>
              <a:avLst/>
              <a:gdLst/>
              <a:ahLst/>
              <a:cxnLst/>
              <a:rect l="l" t="t" r="r" b="b"/>
              <a:pathLst>
                <a:path w="2718779" h="802835">
                  <a:moveTo>
                    <a:pt x="0" y="0"/>
                  </a:moveTo>
                  <a:lnTo>
                    <a:pt x="2718779" y="0"/>
                  </a:lnTo>
                  <a:lnTo>
                    <a:pt x="2718779" y="802834"/>
                  </a:lnTo>
                  <a:lnTo>
                    <a:pt x="0" y="802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9040200" y="500117"/>
              <a:ext cx="2155871" cy="1131923"/>
            </a:xfrm>
            <a:custGeom>
              <a:avLst/>
              <a:gdLst/>
              <a:ahLst/>
              <a:cxnLst/>
              <a:rect l="l" t="t" r="r" b="b"/>
              <a:pathLst>
                <a:path w="2155871" h="1131923">
                  <a:moveTo>
                    <a:pt x="0" y="0"/>
                  </a:moveTo>
                  <a:lnTo>
                    <a:pt x="2155871" y="0"/>
                  </a:lnTo>
                  <a:lnTo>
                    <a:pt x="2155871" y="1131923"/>
                  </a:lnTo>
                  <a:lnTo>
                    <a:pt x="0" y="1131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0848" t="-87578" r="-18185" b="-77228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 rot="5400000">
              <a:off x="4296376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3" y="0"/>
                  </a:lnTo>
                  <a:lnTo>
                    <a:pt x="1413653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 rot="5400000">
              <a:off x="8076446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 rot="5400000">
              <a:off x="10738503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 rot="5400000">
              <a:off x="14334452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0" y="12926593"/>
              <a:ext cx="447079" cy="513331"/>
            </a:xfrm>
            <a:custGeom>
              <a:avLst/>
              <a:gdLst/>
              <a:ahLst/>
              <a:cxnLst/>
              <a:rect l="l" t="t" r="r" b="b"/>
              <a:pathLst>
                <a:path w="447079" h="513331">
                  <a:moveTo>
                    <a:pt x="0" y="0"/>
                  </a:moveTo>
                  <a:lnTo>
                    <a:pt x="447079" y="0"/>
                  </a:lnTo>
                  <a:lnTo>
                    <a:pt x="447079" y="513332"/>
                  </a:lnTo>
                  <a:lnTo>
                    <a:pt x="0" y="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46410" r="-2261800" b="-794889"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23872891" y="12926593"/>
              <a:ext cx="327286" cy="513331"/>
            </a:xfrm>
            <a:custGeom>
              <a:avLst/>
              <a:gdLst/>
              <a:ahLst/>
              <a:cxnLst/>
              <a:rect l="l" t="t" r="r" b="b"/>
              <a:pathLst>
                <a:path w="327286" h="513331">
                  <a:moveTo>
                    <a:pt x="0" y="0"/>
                  </a:moveTo>
                  <a:lnTo>
                    <a:pt x="327286" y="0"/>
                  </a:lnTo>
                  <a:lnTo>
                    <a:pt x="327286" y="513332"/>
                  </a:lnTo>
                  <a:lnTo>
                    <a:pt x="0" y="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3189663" b="-794889"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 rot="-2449180">
              <a:off x="18577" y="108518"/>
              <a:ext cx="409925" cy="209368"/>
            </a:xfrm>
            <a:custGeom>
              <a:avLst/>
              <a:gdLst/>
              <a:ahLst/>
              <a:cxnLst/>
              <a:rect l="l" t="t" r="r" b="b"/>
              <a:pathLst>
                <a:path w="409925" h="209368">
                  <a:moveTo>
                    <a:pt x="0" y="0"/>
                  </a:moveTo>
                  <a:lnTo>
                    <a:pt x="409925" y="0"/>
                  </a:lnTo>
                  <a:lnTo>
                    <a:pt x="409925" y="209367"/>
                  </a:lnTo>
                  <a:lnTo>
                    <a:pt x="0" y="209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22294" t="-487293" r="-5831621" b="-4553559"/>
              </a:stretch>
            </a:blipFill>
          </p:spPr>
        </p:sp>
      </p:grpSp>
      <p:sp>
        <p:nvSpPr>
          <p:cNvPr id="25" name="Freeform 25"/>
          <p:cNvSpPr/>
          <p:nvPr/>
        </p:nvSpPr>
        <p:spPr>
          <a:xfrm>
            <a:off x="15601367" y="76238"/>
            <a:ext cx="2551067" cy="203144"/>
          </a:xfrm>
          <a:custGeom>
            <a:avLst/>
            <a:gdLst/>
            <a:ahLst/>
            <a:cxnLst/>
            <a:rect l="l" t="t" r="r" b="b"/>
            <a:pathLst>
              <a:path w="2551067" h="203144">
                <a:moveTo>
                  <a:pt x="0" y="0"/>
                </a:moveTo>
                <a:lnTo>
                  <a:pt x="2551066" y="0"/>
                </a:lnTo>
                <a:lnTo>
                  <a:pt x="2551066" y="203144"/>
                </a:lnTo>
                <a:lnTo>
                  <a:pt x="0" y="2031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82375" r="-641643" b="-3691381"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95685" y="1238998"/>
            <a:ext cx="6137050" cy="2065420"/>
            <a:chOff x="0" y="0"/>
            <a:chExt cx="8182733" cy="2753893"/>
          </a:xfrm>
        </p:grpSpPr>
        <p:sp>
          <p:nvSpPr>
            <p:cNvPr id="27" name="Freeform 27"/>
            <p:cNvSpPr/>
            <p:nvPr/>
          </p:nvSpPr>
          <p:spPr>
            <a:xfrm>
              <a:off x="78182" y="0"/>
              <a:ext cx="8104551" cy="2753893"/>
            </a:xfrm>
            <a:custGeom>
              <a:avLst/>
              <a:gdLst/>
              <a:ahLst/>
              <a:cxnLst/>
              <a:rect l="l" t="t" r="r" b="b"/>
              <a:pathLst>
                <a:path w="8104551" h="2753893">
                  <a:moveTo>
                    <a:pt x="0" y="0"/>
                  </a:moveTo>
                  <a:lnTo>
                    <a:pt x="8104551" y="0"/>
                  </a:lnTo>
                  <a:lnTo>
                    <a:pt x="8104551" y="2753893"/>
                  </a:lnTo>
                  <a:lnTo>
                    <a:pt x="0" y="275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36105" t="-15386" r="-3321" b="-14379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951077"/>
              <a:ext cx="6842151" cy="7218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8"/>
                </a:lnSpc>
                <a:spcBef>
                  <a:spcPct val="0"/>
                </a:spcBef>
              </a:pPr>
              <a:r>
                <a:rPr lang="en-US" sz="314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SYSTEM ARCHITECTURE</a:t>
              </a:r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1284D59E-5A0E-3607-6A29-8C11DAE6943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3598" y="2735452"/>
            <a:ext cx="10620008" cy="71742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649" y="87939"/>
            <a:ext cx="18150133" cy="10079944"/>
            <a:chOff x="0" y="0"/>
            <a:chExt cx="24200177" cy="13439925"/>
          </a:xfrm>
        </p:grpSpPr>
        <p:sp>
          <p:nvSpPr>
            <p:cNvPr id="3" name="Freeform 3"/>
            <p:cNvSpPr/>
            <p:nvPr/>
          </p:nvSpPr>
          <p:spPr>
            <a:xfrm>
              <a:off x="119793" y="217912"/>
              <a:ext cx="24080384" cy="13076492"/>
            </a:xfrm>
            <a:custGeom>
              <a:avLst/>
              <a:gdLst/>
              <a:ahLst/>
              <a:cxnLst/>
              <a:rect l="l" t="t" r="r" b="b"/>
              <a:pathLst>
                <a:path w="24080384" h="13076492">
                  <a:moveTo>
                    <a:pt x="0" y="0"/>
                  </a:moveTo>
                  <a:lnTo>
                    <a:pt x="24080384" y="0"/>
                  </a:lnTo>
                  <a:lnTo>
                    <a:pt x="24080384" y="13076492"/>
                  </a:lnTo>
                  <a:lnTo>
                    <a:pt x="0" y="13076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06" t="-2161" r="-707" b="-2667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2599871">
              <a:off x="1771323" y="317121"/>
              <a:ext cx="528062" cy="860652"/>
            </a:xfrm>
            <a:custGeom>
              <a:avLst/>
              <a:gdLst/>
              <a:ahLst/>
              <a:cxnLst/>
              <a:rect l="l" t="t" r="r" b="b"/>
              <a:pathLst>
                <a:path w="528062" h="860652">
                  <a:moveTo>
                    <a:pt x="0" y="0"/>
                  </a:moveTo>
                  <a:lnTo>
                    <a:pt x="528062" y="0"/>
                  </a:lnTo>
                  <a:lnTo>
                    <a:pt x="528062" y="860652"/>
                  </a:lnTo>
                  <a:lnTo>
                    <a:pt x="0" y="860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89270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2599871">
              <a:off x="2183713" y="314741"/>
              <a:ext cx="528062" cy="878112"/>
            </a:xfrm>
            <a:custGeom>
              <a:avLst/>
              <a:gdLst/>
              <a:ahLst/>
              <a:cxnLst/>
              <a:rect l="l" t="t" r="r" b="b"/>
              <a:pathLst>
                <a:path w="528062" h="878112">
                  <a:moveTo>
                    <a:pt x="0" y="0"/>
                  </a:moveTo>
                  <a:lnTo>
                    <a:pt x="528062" y="0"/>
                  </a:lnTo>
                  <a:lnTo>
                    <a:pt x="528062" y="878112"/>
                  </a:lnTo>
                  <a:lnTo>
                    <a:pt x="0" y="878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14" r="-92096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5400000">
              <a:off x="2129427" y="100530"/>
              <a:ext cx="528062" cy="878112"/>
            </a:xfrm>
            <a:custGeom>
              <a:avLst/>
              <a:gdLst/>
              <a:ahLst/>
              <a:cxnLst/>
              <a:rect l="l" t="t" r="r" b="b"/>
              <a:pathLst>
                <a:path w="528062" h="878112">
                  <a:moveTo>
                    <a:pt x="0" y="0"/>
                  </a:moveTo>
                  <a:lnTo>
                    <a:pt x="528062" y="0"/>
                  </a:lnTo>
                  <a:lnTo>
                    <a:pt x="528062" y="878112"/>
                  </a:lnTo>
                  <a:lnTo>
                    <a:pt x="0" y="878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14" r="-92096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803865" y="575909"/>
              <a:ext cx="2847154" cy="980339"/>
            </a:xfrm>
            <a:custGeom>
              <a:avLst/>
              <a:gdLst/>
              <a:ahLst/>
              <a:cxnLst/>
              <a:rect l="l" t="t" r="r" b="b"/>
              <a:pathLst>
                <a:path w="2847154" h="980339">
                  <a:moveTo>
                    <a:pt x="0" y="0"/>
                  </a:moveTo>
                  <a:lnTo>
                    <a:pt x="2847154" y="0"/>
                  </a:lnTo>
                  <a:lnTo>
                    <a:pt x="2847154" y="980339"/>
                  </a:lnTo>
                  <a:lnTo>
                    <a:pt x="0" y="980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5327940" y="539907"/>
              <a:ext cx="3091775" cy="964311"/>
            </a:xfrm>
            <a:custGeom>
              <a:avLst/>
              <a:gdLst/>
              <a:ahLst/>
              <a:cxnLst/>
              <a:rect l="l" t="t" r="r" b="b"/>
              <a:pathLst>
                <a:path w="3091775" h="964311">
                  <a:moveTo>
                    <a:pt x="0" y="0"/>
                  </a:moveTo>
                  <a:lnTo>
                    <a:pt x="3091774" y="0"/>
                  </a:lnTo>
                  <a:lnTo>
                    <a:pt x="3091774" y="964311"/>
                  </a:lnTo>
                  <a:lnTo>
                    <a:pt x="0" y="964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9" name="Group 9"/>
            <p:cNvGrpSpPr/>
            <p:nvPr/>
          </p:nvGrpSpPr>
          <p:grpSpPr>
            <a:xfrm>
              <a:off x="15366736" y="322929"/>
              <a:ext cx="1788924" cy="1309111"/>
              <a:chOff x="0" y="0"/>
              <a:chExt cx="298529" cy="21846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98529" cy="218460"/>
              </a:xfrm>
              <a:custGeom>
                <a:avLst/>
                <a:gdLst/>
                <a:ahLst/>
                <a:cxnLst/>
                <a:rect l="l" t="t" r="r" b="b"/>
                <a:pathLst>
                  <a:path w="298529" h="218460">
                    <a:moveTo>
                      <a:pt x="0" y="0"/>
                    </a:moveTo>
                    <a:lnTo>
                      <a:pt x="298529" y="0"/>
                    </a:lnTo>
                    <a:lnTo>
                      <a:pt x="298529" y="218460"/>
                    </a:lnTo>
                    <a:lnTo>
                      <a:pt x="0" y="21846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66675"/>
                <a:ext cx="298529" cy="285135"/>
              </a:xfrm>
              <a:prstGeom prst="rect">
                <a:avLst/>
              </a:prstGeom>
            </p:spPr>
            <p:txBody>
              <a:bodyPr lIns="32471" tIns="32471" rIns="32471" bIns="32471" rtlCol="0" anchor="ctr"/>
              <a:lstStyle/>
              <a:p>
                <a:pPr algn="ctr">
                  <a:lnSpc>
                    <a:spcPts val="5039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674985" y="347068"/>
              <a:ext cx="1172427" cy="1260834"/>
            </a:xfrm>
            <a:custGeom>
              <a:avLst/>
              <a:gdLst/>
              <a:ahLst/>
              <a:cxnLst/>
              <a:rect l="l" t="t" r="r" b="b"/>
              <a:pathLst>
                <a:path w="1172427" h="1260834">
                  <a:moveTo>
                    <a:pt x="0" y="0"/>
                  </a:moveTo>
                  <a:lnTo>
                    <a:pt x="1172426" y="0"/>
                  </a:lnTo>
                  <a:lnTo>
                    <a:pt x="1172426" y="1260834"/>
                  </a:lnTo>
                  <a:lnTo>
                    <a:pt x="0" y="1260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0918" r="-40918" b="-13102"/>
              </a:stretch>
            </a:blipFill>
          </p:spPr>
        </p:sp>
        <p:grpSp>
          <p:nvGrpSpPr>
            <p:cNvPr id="13" name="Group 13"/>
            <p:cNvGrpSpPr/>
            <p:nvPr/>
          </p:nvGrpSpPr>
          <p:grpSpPr>
            <a:xfrm>
              <a:off x="11641973" y="467581"/>
              <a:ext cx="3153263" cy="1269001"/>
              <a:chOff x="0" y="0"/>
              <a:chExt cx="542837" cy="21846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42837" cy="218460"/>
              </a:xfrm>
              <a:custGeom>
                <a:avLst/>
                <a:gdLst/>
                <a:ahLst/>
                <a:cxnLst/>
                <a:rect l="l" t="t" r="r" b="b"/>
                <a:pathLst>
                  <a:path w="542837" h="218460">
                    <a:moveTo>
                      <a:pt x="88388" y="0"/>
                    </a:moveTo>
                    <a:lnTo>
                      <a:pt x="454450" y="0"/>
                    </a:lnTo>
                    <a:cubicBezTo>
                      <a:pt x="503265" y="0"/>
                      <a:pt x="542837" y="39572"/>
                      <a:pt x="542837" y="88388"/>
                    </a:cubicBezTo>
                    <a:lnTo>
                      <a:pt x="542837" y="130072"/>
                    </a:lnTo>
                    <a:cubicBezTo>
                      <a:pt x="542837" y="178887"/>
                      <a:pt x="503265" y="218460"/>
                      <a:pt x="454450" y="218460"/>
                    </a:cubicBezTo>
                    <a:lnTo>
                      <a:pt x="88388" y="218460"/>
                    </a:lnTo>
                    <a:cubicBezTo>
                      <a:pt x="39572" y="218460"/>
                      <a:pt x="0" y="178887"/>
                      <a:pt x="0" y="130072"/>
                    </a:cubicBezTo>
                    <a:lnTo>
                      <a:pt x="0" y="88388"/>
                    </a:lnTo>
                    <a:cubicBezTo>
                      <a:pt x="0" y="39572"/>
                      <a:pt x="39572" y="0"/>
                      <a:pt x="8838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66675"/>
                <a:ext cx="542837" cy="285135"/>
              </a:xfrm>
              <a:prstGeom prst="rect">
                <a:avLst/>
              </a:prstGeom>
            </p:spPr>
            <p:txBody>
              <a:bodyPr lIns="31476" tIns="31476" rIns="31476" bIns="31476" rtlCol="0" anchor="ctr"/>
              <a:lstStyle/>
              <a:p>
                <a:pPr algn="ctr">
                  <a:lnSpc>
                    <a:spcPts val="5040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1859215" y="700664"/>
              <a:ext cx="2718779" cy="802835"/>
            </a:xfrm>
            <a:custGeom>
              <a:avLst/>
              <a:gdLst/>
              <a:ahLst/>
              <a:cxnLst/>
              <a:rect l="l" t="t" r="r" b="b"/>
              <a:pathLst>
                <a:path w="2718779" h="802835">
                  <a:moveTo>
                    <a:pt x="0" y="0"/>
                  </a:moveTo>
                  <a:lnTo>
                    <a:pt x="2718779" y="0"/>
                  </a:lnTo>
                  <a:lnTo>
                    <a:pt x="2718779" y="802834"/>
                  </a:lnTo>
                  <a:lnTo>
                    <a:pt x="0" y="802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9040200" y="500117"/>
              <a:ext cx="2155871" cy="1131923"/>
            </a:xfrm>
            <a:custGeom>
              <a:avLst/>
              <a:gdLst/>
              <a:ahLst/>
              <a:cxnLst/>
              <a:rect l="l" t="t" r="r" b="b"/>
              <a:pathLst>
                <a:path w="2155871" h="1131923">
                  <a:moveTo>
                    <a:pt x="0" y="0"/>
                  </a:moveTo>
                  <a:lnTo>
                    <a:pt x="2155871" y="0"/>
                  </a:lnTo>
                  <a:lnTo>
                    <a:pt x="2155871" y="1131923"/>
                  </a:lnTo>
                  <a:lnTo>
                    <a:pt x="0" y="1131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0848" t="-87578" r="-18185" b="-77228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 rot="5400000">
              <a:off x="4296376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3" y="0"/>
                  </a:lnTo>
                  <a:lnTo>
                    <a:pt x="1413653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 rot="5400000">
              <a:off x="8076446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 rot="5400000">
              <a:off x="10738503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 rot="5400000">
              <a:off x="14334452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0" y="12926593"/>
              <a:ext cx="447079" cy="513331"/>
            </a:xfrm>
            <a:custGeom>
              <a:avLst/>
              <a:gdLst/>
              <a:ahLst/>
              <a:cxnLst/>
              <a:rect l="l" t="t" r="r" b="b"/>
              <a:pathLst>
                <a:path w="447079" h="513331">
                  <a:moveTo>
                    <a:pt x="0" y="0"/>
                  </a:moveTo>
                  <a:lnTo>
                    <a:pt x="447079" y="0"/>
                  </a:lnTo>
                  <a:lnTo>
                    <a:pt x="447079" y="513332"/>
                  </a:lnTo>
                  <a:lnTo>
                    <a:pt x="0" y="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46410" r="-2261800" b="-794889"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23872891" y="12926593"/>
              <a:ext cx="327286" cy="513331"/>
            </a:xfrm>
            <a:custGeom>
              <a:avLst/>
              <a:gdLst/>
              <a:ahLst/>
              <a:cxnLst/>
              <a:rect l="l" t="t" r="r" b="b"/>
              <a:pathLst>
                <a:path w="327286" h="513331">
                  <a:moveTo>
                    <a:pt x="0" y="0"/>
                  </a:moveTo>
                  <a:lnTo>
                    <a:pt x="327286" y="0"/>
                  </a:lnTo>
                  <a:lnTo>
                    <a:pt x="327286" y="513332"/>
                  </a:lnTo>
                  <a:lnTo>
                    <a:pt x="0" y="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3189663" b="-794889"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 rot="-2449180">
              <a:off x="18577" y="108518"/>
              <a:ext cx="409925" cy="209368"/>
            </a:xfrm>
            <a:custGeom>
              <a:avLst/>
              <a:gdLst/>
              <a:ahLst/>
              <a:cxnLst/>
              <a:rect l="l" t="t" r="r" b="b"/>
              <a:pathLst>
                <a:path w="409925" h="209368">
                  <a:moveTo>
                    <a:pt x="0" y="0"/>
                  </a:moveTo>
                  <a:lnTo>
                    <a:pt x="409925" y="0"/>
                  </a:lnTo>
                  <a:lnTo>
                    <a:pt x="409925" y="209367"/>
                  </a:lnTo>
                  <a:lnTo>
                    <a:pt x="0" y="209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22294" t="-487293" r="-5831621" b="-4553559"/>
              </a:stretch>
            </a:blipFill>
          </p:spPr>
        </p:sp>
      </p:grpSp>
      <p:sp>
        <p:nvSpPr>
          <p:cNvPr id="25" name="Freeform 25"/>
          <p:cNvSpPr/>
          <p:nvPr/>
        </p:nvSpPr>
        <p:spPr>
          <a:xfrm>
            <a:off x="15601367" y="76238"/>
            <a:ext cx="2551067" cy="203144"/>
          </a:xfrm>
          <a:custGeom>
            <a:avLst/>
            <a:gdLst/>
            <a:ahLst/>
            <a:cxnLst/>
            <a:rect l="l" t="t" r="r" b="b"/>
            <a:pathLst>
              <a:path w="2551067" h="203144">
                <a:moveTo>
                  <a:pt x="0" y="0"/>
                </a:moveTo>
                <a:lnTo>
                  <a:pt x="2551066" y="0"/>
                </a:lnTo>
                <a:lnTo>
                  <a:pt x="2551066" y="203144"/>
                </a:lnTo>
                <a:lnTo>
                  <a:pt x="0" y="2031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82375" r="-641643" b="-3691381"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-266700" y="1238998"/>
            <a:ext cx="5859306" cy="2065420"/>
            <a:chOff x="0" y="0"/>
            <a:chExt cx="7812408" cy="2753893"/>
          </a:xfrm>
        </p:grpSpPr>
        <p:sp>
          <p:nvSpPr>
            <p:cNvPr id="27" name="Freeform 27"/>
            <p:cNvSpPr/>
            <p:nvPr/>
          </p:nvSpPr>
          <p:spPr>
            <a:xfrm>
              <a:off x="547992" y="0"/>
              <a:ext cx="7264416" cy="2753893"/>
            </a:xfrm>
            <a:custGeom>
              <a:avLst/>
              <a:gdLst/>
              <a:ahLst/>
              <a:cxnLst/>
              <a:rect l="l" t="t" r="r" b="b"/>
              <a:pathLst>
                <a:path w="7264416" h="2753893">
                  <a:moveTo>
                    <a:pt x="0" y="0"/>
                  </a:moveTo>
                  <a:lnTo>
                    <a:pt x="7264416" y="0"/>
                  </a:lnTo>
                  <a:lnTo>
                    <a:pt x="7264416" y="2753893"/>
                  </a:lnTo>
                  <a:lnTo>
                    <a:pt x="0" y="275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51845" t="-15386" r="-3706" b="-14379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951077"/>
              <a:ext cx="6842151" cy="7218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8"/>
                </a:lnSpc>
                <a:spcBef>
                  <a:spcPct val="0"/>
                </a:spcBef>
              </a:pPr>
              <a:r>
                <a:rPr lang="en-US" sz="314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IMPLEMENTATION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649" y="87939"/>
            <a:ext cx="18150133" cy="10079944"/>
            <a:chOff x="0" y="0"/>
            <a:chExt cx="24200177" cy="13439925"/>
          </a:xfrm>
        </p:grpSpPr>
        <p:sp>
          <p:nvSpPr>
            <p:cNvPr id="3" name="Freeform 3"/>
            <p:cNvSpPr/>
            <p:nvPr/>
          </p:nvSpPr>
          <p:spPr>
            <a:xfrm>
              <a:off x="119793" y="217912"/>
              <a:ext cx="24080384" cy="13076492"/>
            </a:xfrm>
            <a:custGeom>
              <a:avLst/>
              <a:gdLst/>
              <a:ahLst/>
              <a:cxnLst/>
              <a:rect l="l" t="t" r="r" b="b"/>
              <a:pathLst>
                <a:path w="24080384" h="13076492">
                  <a:moveTo>
                    <a:pt x="0" y="0"/>
                  </a:moveTo>
                  <a:lnTo>
                    <a:pt x="24080384" y="0"/>
                  </a:lnTo>
                  <a:lnTo>
                    <a:pt x="24080384" y="13076492"/>
                  </a:lnTo>
                  <a:lnTo>
                    <a:pt x="0" y="13076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06" t="-2161" r="-707" b="-2667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2599871">
              <a:off x="1771323" y="317121"/>
              <a:ext cx="528062" cy="860652"/>
            </a:xfrm>
            <a:custGeom>
              <a:avLst/>
              <a:gdLst/>
              <a:ahLst/>
              <a:cxnLst/>
              <a:rect l="l" t="t" r="r" b="b"/>
              <a:pathLst>
                <a:path w="528062" h="860652">
                  <a:moveTo>
                    <a:pt x="0" y="0"/>
                  </a:moveTo>
                  <a:lnTo>
                    <a:pt x="528062" y="0"/>
                  </a:lnTo>
                  <a:lnTo>
                    <a:pt x="528062" y="860652"/>
                  </a:lnTo>
                  <a:lnTo>
                    <a:pt x="0" y="860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89270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2599871">
              <a:off x="2183713" y="314741"/>
              <a:ext cx="528062" cy="878112"/>
            </a:xfrm>
            <a:custGeom>
              <a:avLst/>
              <a:gdLst/>
              <a:ahLst/>
              <a:cxnLst/>
              <a:rect l="l" t="t" r="r" b="b"/>
              <a:pathLst>
                <a:path w="528062" h="878112">
                  <a:moveTo>
                    <a:pt x="0" y="0"/>
                  </a:moveTo>
                  <a:lnTo>
                    <a:pt x="528062" y="0"/>
                  </a:lnTo>
                  <a:lnTo>
                    <a:pt x="528062" y="878112"/>
                  </a:lnTo>
                  <a:lnTo>
                    <a:pt x="0" y="878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14" r="-92096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5400000">
              <a:off x="2129427" y="100530"/>
              <a:ext cx="528062" cy="878112"/>
            </a:xfrm>
            <a:custGeom>
              <a:avLst/>
              <a:gdLst/>
              <a:ahLst/>
              <a:cxnLst/>
              <a:rect l="l" t="t" r="r" b="b"/>
              <a:pathLst>
                <a:path w="528062" h="878112">
                  <a:moveTo>
                    <a:pt x="0" y="0"/>
                  </a:moveTo>
                  <a:lnTo>
                    <a:pt x="528062" y="0"/>
                  </a:lnTo>
                  <a:lnTo>
                    <a:pt x="528062" y="878112"/>
                  </a:lnTo>
                  <a:lnTo>
                    <a:pt x="0" y="878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14" r="-92096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803865" y="575909"/>
              <a:ext cx="2847154" cy="980339"/>
            </a:xfrm>
            <a:custGeom>
              <a:avLst/>
              <a:gdLst/>
              <a:ahLst/>
              <a:cxnLst/>
              <a:rect l="l" t="t" r="r" b="b"/>
              <a:pathLst>
                <a:path w="2847154" h="980339">
                  <a:moveTo>
                    <a:pt x="0" y="0"/>
                  </a:moveTo>
                  <a:lnTo>
                    <a:pt x="2847154" y="0"/>
                  </a:lnTo>
                  <a:lnTo>
                    <a:pt x="2847154" y="980339"/>
                  </a:lnTo>
                  <a:lnTo>
                    <a:pt x="0" y="980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5327940" y="539907"/>
              <a:ext cx="3091775" cy="964311"/>
            </a:xfrm>
            <a:custGeom>
              <a:avLst/>
              <a:gdLst/>
              <a:ahLst/>
              <a:cxnLst/>
              <a:rect l="l" t="t" r="r" b="b"/>
              <a:pathLst>
                <a:path w="3091775" h="964311">
                  <a:moveTo>
                    <a:pt x="0" y="0"/>
                  </a:moveTo>
                  <a:lnTo>
                    <a:pt x="3091774" y="0"/>
                  </a:lnTo>
                  <a:lnTo>
                    <a:pt x="3091774" y="964311"/>
                  </a:lnTo>
                  <a:lnTo>
                    <a:pt x="0" y="964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9" name="Group 9"/>
            <p:cNvGrpSpPr/>
            <p:nvPr/>
          </p:nvGrpSpPr>
          <p:grpSpPr>
            <a:xfrm>
              <a:off x="15366736" y="322929"/>
              <a:ext cx="1788924" cy="1309111"/>
              <a:chOff x="0" y="0"/>
              <a:chExt cx="298529" cy="21846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98529" cy="218460"/>
              </a:xfrm>
              <a:custGeom>
                <a:avLst/>
                <a:gdLst/>
                <a:ahLst/>
                <a:cxnLst/>
                <a:rect l="l" t="t" r="r" b="b"/>
                <a:pathLst>
                  <a:path w="298529" h="218460">
                    <a:moveTo>
                      <a:pt x="0" y="0"/>
                    </a:moveTo>
                    <a:lnTo>
                      <a:pt x="298529" y="0"/>
                    </a:lnTo>
                    <a:lnTo>
                      <a:pt x="298529" y="218460"/>
                    </a:lnTo>
                    <a:lnTo>
                      <a:pt x="0" y="21846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66675"/>
                <a:ext cx="298529" cy="285135"/>
              </a:xfrm>
              <a:prstGeom prst="rect">
                <a:avLst/>
              </a:prstGeom>
            </p:spPr>
            <p:txBody>
              <a:bodyPr lIns="32471" tIns="32471" rIns="32471" bIns="32471" rtlCol="0" anchor="ctr"/>
              <a:lstStyle/>
              <a:p>
                <a:pPr algn="ctr">
                  <a:lnSpc>
                    <a:spcPts val="5039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674985" y="347068"/>
              <a:ext cx="1172427" cy="1260834"/>
            </a:xfrm>
            <a:custGeom>
              <a:avLst/>
              <a:gdLst/>
              <a:ahLst/>
              <a:cxnLst/>
              <a:rect l="l" t="t" r="r" b="b"/>
              <a:pathLst>
                <a:path w="1172427" h="1260834">
                  <a:moveTo>
                    <a:pt x="0" y="0"/>
                  </a:moveTo>
                  <a:lnTo>
                    <a:pt x="1172426" y="0"/>
                  </a:lnTo>
                  <a:lnTo>
                    <a:pt x="1172426" y="1260834"/>
                  </a:lnTo>
                  <a:lnTo>
                    <a:pt x="0" y="1260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0918" r="-40918" b="-13102"/>
              </a:stretch>
            </a:blipFill>
          </p:spPr>
        </p:sp>
        <p:grpSp>
          <p:nvGrpSpPr>
            <p:cNvPr id="13" name="Group 13"/>
            <p:cNvGrpSpPr/>
            <p:nvPr/>
          </p:nvGrpSpPr>
          <p:grpSpPr>
            <a:xfrm>
              <a:off x="11641973" y="467581"/>
              <a:ext cx="3153263" cy="1269001"/>
              <a:chOff x="0" y="0"/>
              <a:chExt cx="542837" cy="21846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42837" cy="218460"/>
              </a:xfrm>
              <a:custGeom>
                <a:avLst/>
                <a:gdLst/>
                <a:ahLst/>
                <a:cxnLst/>
                <a:rect l="l" t="t" r="r" b="b"/>
                <a:pathLst>
                  <a:path w="542837" h="218460">
                    <a:moveTo>
                      <a:pt x="88388" y="0"/>
                    </a:moveTo>
                    <a:lnTo>
                      <a:pt x="454450" y="0"/>
                    </a:lnTo>
                    <a:cubicBezTo>
                      <a:pt x="503265" y="0"/>
                      <a:pt x="542837" y="39572"/>
                      <a:pt x="542837" y="88388"/>
                    </a:cubicBezTo>
                    <a:lnTo>
                      <a:pt x="542837" y="130072"/>
                    </a:lnTo>
                    <a:cubicBezTo>
                      <a:pt x="542837" y="178887"/>
                      <a:pt x="503265" y="218460"/>
                      <a:pt x="454450" y="218460"/>
                    </a:cubicBezTo>
                    <a:lnTo>
                      <a:pt x="88388" y="218460"/>
                    </a:lnTo>
                    <a:cubicBezTo>
                      <a:pt x="39572" y="218460"/>
                      <a:pt x="0" y="178887"/>
                      <a:pt x="0" y="130072"/>
                    </a:cubicBezTo>
                    <a:lnTo>
                      <a:pt x="0" y="88388"/>
                    </a:lnTo>
                    <a:cubicBezTo>
                      <a:pt x="0" y="39572"/>
                      <a:pt x="39572" y="0"/>
                      <a:pt x="8838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66675"/>
                <a:ext cx="542837" cy="285135"/>
              </a:xfrm>
              <a:prstGeom prst="rect">
                <a:avLst/>
              </a:prstGeom>
            </p:spPr>
            <p:txBody>
              <a:bodyPr lIns="31476" tIns="31476" rIns="31476" bIns="31476" rtlCol="0" anchor="ctr"/>
              <a:lstStyle/>
              <a:p>
                <a:pPr algn="ctr">
                  <a:lnSpc>
                    <a:spcPts val="5040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1859215" y="700664"/>
              <a:ext cx="2718779" cy="802835"/>
            </a:xfrm>
            <a:custGeom>
              <a:avLst/>
              <a:gdLst/>
              <a:ahLst/>
              <a:cxnLst/>
              <a:rect l="l" t="t" r="r" b="b"/>
              <a:pathLst>
                <a:path w="2718779" h="802835">
                  <a:moveTo>
                    <a:pt x="0" y="0"/>
                  </a:moveTo>
                  <a:lnTo>
                    <a:pt x="2718779" y="0"/>
                  </a:lnTo>
                  <a:lnTo>
                    <a:pt x="2718779" y="802834"/>
                  </a:lnTo>
                  <a:lnTo>
                    <a:pt x="0" y="802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9040200" y="500117"/>
              <a:ext cx="2155871" cy="1131923"/>
            </a:xfrm>
            <a:custGeom>
              <a:avLst/>
              <a:gdLst/>
              <a:ahLst/>
              <a:cxnLst/>
              <a:rect l="l" t="t" r="r" b="b"/>
              <a:pathLst>
                <a:path w="2155871" h="1131923">
                  <a:moveTo>
                    <a:pt x="0" y="0"/>
                  </a:moveTo>
                  <a:lnTo>
                    <a:pt x="2155871" y="0"/>
                  </a:lnTo>
                  <a:lnTo>
                    <a:pt x="2155871" y="1131923"/>
                  </a:lnTo>
                  <a:lnTo>
                    <a:pt x="0" y="1131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0848" t="-87578" r="-18185" b="-77228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 rot="5400000">
              <a:off x="4296376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3" y="0"/>
                  </a:lnTo>
                  <a:lnTo>
                    <a:pt x="1413653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 rot="5400000">
              <a:off x="8076446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 rot="5400000">
              <a:off x="10738503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 rot="5400000">
              <a:off x="14334452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0" y="12926593"/>
              <a:ext cx="447079" cy="513331"/>
            </a:xfrm>
            <a:custGeom>
              <a:avLst/>
              <a:gdLst/>
              <a:ahLst/>
              <a:cxnLst/>
              <a:rect l="l" t="t" r="r" b="b"/>
              <a:pathLst>
                <a:path w="447079" h="513331">
                  <a:moveTo>
                    <a:pt x="0" y="0"/>
                  </a:moveTo>
                  <a:lnTo>
                    <a:pt x="447079" y="0"/>
                  </a:lnTo>
                  <a:lnTo>
                    <a:pt x="447079" y="513332"/>
                  </a:lnTo>
                  <a:lnTo>
                    <a:pt x="0" y="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46410" r="-2261800" b="-794889"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23872891" y="12926593"/>
              <a:ext cx="327286" cy="513331"/>
            </a:xfrm>
            <a:custGeom>
              <a:avLst/>
              <a:gdLst/>
              <a:ahLst/>
              <a:cxnLst/>
              <a:rect l="l" t="t" r="r" b="b"/>
              <a:pathLst>
                <a:path w="327286" h="513331">
                  <a:moveTo>
                    <a:pt x="0" y="0"/>
                  </a:moveTo>
                  <a:lnTo>
                    <a:pt x="327286" y="0"/>
                  </a:lnTo>
                  <a:lnTo>
                    <a:pt x="327286" y="513332"/>
                  </a:lnTo>
                  <a:lnTo>
                    <a:pt x="0" y="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3189663" b="-794889"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 rot="-2449180">
              <a:off x="18577" y="108518"/>
              <a:ext cx="409925" cy="209368"/>
            </a:xfrm>
            <a:custGeom>
              <a:avLst/>
              <a:gdLst/>
              <a:ahLst/>
              <a:cxnLst/>
              <a:rect l="l" t="t" r="r" b="b"/>
              <a:pathLst>
                <a:path w="409925" h="209368">
                  <a:moveTo>
                    <a:pt x="0" y="0"/>
                  </a:moveTo>
                  <a:lnTo>
                    <a:pt x="409925" y="0"/>
                  </a:lnTo>
                  <a:lnTo>
                    <a:pt x="409925" y="209367"/>
                  </a:lnTo>
                  <a:lnTo>
                    <a:pt x="0" y="209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22294" t="-487293" r="-5831621" b="-4553559"/>
              </a:stretch>
            </a:blipFill>
          </p:spPr>
        </p:sp>
      </p:grpSp>
      <p:sp>
        <p:nvSpPr>
          <p:cNvPr id="25" name="Freeform 25"/>
          <p:cNvSpPr/>
          <p:nvPr/>
        </p:nvSpPr>
        <p:spPr>
          <a:xfrm>
            <a:off x="15601367" y="76238"/>
            <a:ext cx="2551067" cy="203144"/>
          </a:xfrm>
          <a:custGeom>
            <a:avLst/>
            <a:gdLst/>
            <a:ahLst/>
            <a:cxnLst/>
            <a:rect l="l" t="t" r="r" b="b"/>
            <a:pathLst>
              <a:path w="2551067" h="203144">
                <a:moveTo>
                  <a:pt x="0" y="0"/>
                </a:moveTo>
                <a:lnTo>
                  <a:pt x="2551066" y="0"/>
                </a:lnTo>
                <a:lnTo>
                  <a:pt x="2551066" y="203144"/>
                </a:lnTo>
                <a:lnTo>
                  <a:pt x="0" y="2031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82375" r="-641643" b="-3691381"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-266700" y="1238998"/>
            <a:ext cx="5859306" cy="2065420"/>
            <a:chOff x="0" y="0"/>
            <a:chExt cx="7812408" cy="2753893"/>
          </a:xfrm>
        </p:grpSpPr>
        <p:sp>
          <p:nvSpPr>
            <p:cNvPr id="27" name="Freeform 27"/>
            <p:cNvSpPr/>
            <p:nvPr/>
          </p:nvSpPr>
          <p:spPr>
            <a:xfrm>
              <a:off x="547992" y="0"/>
              <a:ext cx="7264416" cy="2753893"/>
            </a:xfrm>
            <a:custGeom>
              <a:avLst/>
              <a:gdLst/>
              <a:ahLst/>
              <a:cxnLst/>
              <a:rect l="l" t="t" r="r" b="b"/>
              <a:pathLst>
                <a:path w="7264416" h="2753893">
                  <a:moveTo>
                    <a:pt x="0" y="0"/>
                  </a:moveTo>
                  <a:lnTo>
                    <a:pt x="7264416" y="0"/>
                  </a:lnTo>
                  <a:lnTo>
                    <a:pt x="7264416" y="2753893"/>
                  </a:lnTo>
                  <a:lnTo>
                    <a:pt x="0" y="275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51845" t="-15386" r="-3706" b="-14379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951077"/>
              <a:ext cx="6842151" cy="7218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8"/>
                </a:lnSpc>
                <a:spcBef>
                  <a:spcPct val="0"/>
                </a:spcBef>
              </a:pPr>
              <a:r>
                <a:rPr lang="en-US" sz="314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IMPLEMENTATION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1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649" y="87939"/>
            <a:ext cx="18150133" cy="10079944"/>
            <a:chOff x="0" y="0"/>
            <a:chExt cx="24200177" cy="13439925"/>
          </a:xfrm>
        </p:grpSpPr>
        <p:sp>
          <p:nvSpPr>
            <p:cNvPr id="3" name="Freeform 3"/>
            <p:cNvSpPr/>
            <p:nvPr/>
          </p:nvSpPr>
          <p:spPr>
            <a:xfrm>
              <a:off x="119793" y="217912"/>
              <a:ext cx="24080384" cy="13076492"/>
            </a:xfrm>
            <a:custGeom>
              <a:avLst/>
              <a:gdLst/>
              <a:ahLst/>
              <a:cxnLst/>
              <a:rect l="l" t="t" r="r" b="b"/>
              <a:pathLst>
                <a:path w="24080384" h="13076492">
                  <a:moveTo>
                    <a:pt x="0" y="0"/>
                  </a:moveTo>
                  <a:lnTo>
                    <a:pt x="24080384" y="0"/>
                  </a:lnTo>
                  <a:lnTo>
                    <a:pt x="24080384" y="13076492"/>
                  </a:lnTo>
                  <a:lnTo>
                    <a:pt x="0" y="13076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06" t="-2161" r="-707" b="-2667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2599871">
              <a:off x="1771323" y="317121"/>
              <a:ext cx="528062" cy="860652"/>
            </a:xfrm>
            <a:custGeom>
              <a:avLst/>
              <a:gdLst/>
              <a:ahLst/>
              <a:cxnLst/>
              <a:rect l="l" t="t" r="r" b="b"/>
              <a:pathLst>
                <a:path w="528062" h="860652">
                  <a:moveTo>
                    <a:pt x="0" y="0"/>
                  </a:moveTo>
                  <a:lnTo>
                    <a:pt x="528062" y="0"/>
                  </a:lnTo>
                  <a:lnTo>
                    <a:pt x="528062" y="860652"/>
                  </a:lnTo>
                  <a:lnTo>
                    <a:pt x="0" y="860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89270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2599871">
              <a:off x="2183713" y="314741"/>
              <a:ext cx="528062" cy="878112"/>
            </a:xfrm>
            <a:custGeom>
              <a:avLst/>
              <a:gdLst/>
              <a:ahLst/>
              <a:cxnLst/>
              <a:rect l="l" t="t" r="r" b="b"/>
              <a:pathLst>
                <a:path w="528062" h="878112">
                  <a:moveTo>
                    <a:pt x="0" y="0"/>
                  </a:moveTo>
                  <a:lnTo>
                    <a:pt x="528062" y="0"/>
                  </a:lnTo>
                  <a:lnTo>
                    <a:pt x="528062" y="878112"/>
                  </a:lnTo>
                  <a:lnTo>
                    <a:pt x="0" y="878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14" r="-92096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5400000">
              <a:off x="2129427" y="100530"/>
              <a:ext cx="528062" cy="878112"/>
            </a:xfrm>
            <a:custGeom>
              <a:avLst/>
              <a:gdLst/>
              <a:ahLst/>
              <a:cxnLst/>
              <a:rect l="l" t="t" r="r" b="b"/>
              <a:pathLst>
                <a:path w="528062" h="878112">
                  <a:moveTo>
                    <a:pt x="0" y="0"/>
                  </a:moveTo>
                  <a:lnTo>
                    <a:pt x="528062" y="0"/>
                  </a:lnTo>
                  <a:lnTo>
                    <a:pt x="528062" y="878112"/>
                  </a:lnTo>
                  <a:lnTo>
                    <a:pt x="0" y="878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14" r="-92096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803865" y="575909"/>
              <a:ext cx="2847154" cy="980339"/>
            </a:xfrm>
            <a:custGeom>
              <a:avLst/>
              <a:gdLst/>
              <a:ahLst/>
              <a:cxnLst/>
              <a:rect l="l" t="t" r="r" b="b"/>
              <a:pathLst>
                <a:path w="2847154" h="980339">
                  <a:moveTo>
                    <a:pt x="0" y="0"/>
                  </a:moveTo>
                  <a:lnTo>
                    <a:pt x="2847154" y="0"/>
                  </a:lnTo>
                  <a:lnTo>
                    <a:pt x="2847154" y="980339"/>
                  </a:lnTo>
                  <a:lnTo>
                    <a:pt x="0" y="980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5327940" y="539907"/>
              <a:ext cx="3091775" cy="964311"/>
            </a:xfrm>
            <a:custGeom>
              <a:avLst/>
              <a:gdLst/>
              <a:ahLst/>
              <a:cxnLst/>
              <a:rect l="l" t="t" r="r" b="b"/>
              <a:pathLst>
                <a:path w="3091775" h="964311">
                  <a:moveTo>
                    <a:pt x="0" y="0"/>
                  </a:moveTo>
                  <a:lnTo>
                    <a:pt x="3091774" y="0"/>
                  </a:lnTo>
                  <a:lnTo>
                    <a:pt x="3091774" y="964311"/>
                  </a:lnTo>
                  <a:lnTo>
                    <a:pt x="0" y="964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9" name="Group 9"/>
            <p:cNvGrpSpPr/>
            <p:nvPr/>
          </p:nvGrpSpPr>
          <p:grpSpPr>
            <a:xfrm>
              <a:off x="15366736" y="322929"/>
              <a:ext cx="1788924" cy="1309111"/>
              <a:chOff x="0" y="0"/>
              <a:chExt cx="298529" cy="21846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98529" cy="218460"/>
              </a:xfrm>
              <a:custGeom>
                <a:avLst/>
                <a:gdLst/>
                <a:ahLst/>
                <a:cxnLst/>
                <a:rect l="l" t="t" r="r" b="b"/>
                <a:pathLst>
                  <a:path w="298529" h="218460">
                    <a:moveTo>
                      <a:pt x="0" y="0"/>
                    </a:moveTo>
                    <a:lnTo>
                      <a:pt x="298529" y="0"/>
                    </a:lnTo>
                    <a:lnTo>
                      <a:pt x="298529" y="218460"/>
                    </a:lnTo>
                    <a:lnTo>
                      <a:pt x="0" y="21846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66675"/>
                <a:ext cx="298529" cy="285135"/>
              </a:xfrm>
              <a:prstGeom prst="rect">
                <a:avLst/>
              </a:prstGeom>
            </p:spPr>
            <p:txBody>
              <a:bodyPr lIns="32471" tIns="32471" rIns="32471" bIns="32471" rtlCol="0" anchor="ctr"/>
              <a:lstStyle/>
              <a:p>
                <a:pPr algn="ctr">
                  <a:lnSpc>
                    <a:spcPts val="5039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5674985" y="347068"/>
              <a:ext cx="1172427" cy="1260834"/>
            </a:xfrm>
            <a:custGeom>
              <a:avLst/>
              <a:gdLst/>
              <a:ahLst/>
              <a:cxnLst/>
              <a:rect l="l" t="t" r="r" b="b"/>
              <a:pathLst>
                <a:path w="1172427" h="1260834">
                  <a:moveTo>
                    <a:pt x="0" y="0"/>
                  </a:moveTo>
                  <a:lnTo>
                    <a:pt x="1172426" y="0"/>
                  </a:lnTo>
                  <a:lnTo>
                    <a:pt x="1172426" y="1260834"/>
                  </a:lnTo>
                  <a:lnTo>
                    <a:pt x="0" y="1260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0918" r="-40918" b="-13102"/>
              </a:stretch>
            </a:blipFill>
          </p:spPr>
        </p:sp>
        <p:grpSp>
          <p:nvGrpSpPr>
            <p:cNvPr id="13" name="Group 13"/>
            <p:cNvGrpSpPr/>
            <p:nvPr/>
          </p:nvGrpSpPr>
          <p:grpSpPr>
            <a:xfrm>
              <a:off x="11641973" y="467581"/>
              <a:ext cx="3153263" cy="1269001"/>
              <a:chOff x="0" y="0"/>
              <a:chExt cx="542837" cy="21846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42837" cy="218460"/>
              </a:xfrm>
              <a:custGeom>
                <a:avLst/>
                <a:gdLst/>
                <a:ahLst/>
                <a:cxnLst/>
                <a:rect l="l" t="t" r="r" b="b"/>
                <a:pathLst>
                  <a:path w="542837" h="218460">
                    <a:moveTo>
                      <a:pt x="88388" y="0"/>
                    </a:moveTo>
                    <a:lnTo>
                      <a:pt x="454450" y="0"/>
                    </a:lnTo>
                    <a:cubicBezTo>
                      <a:pt x="503265" y="0"/>
                      <a:pt x="542837" y="39572"/>
                      <a:pt x="542837" y="88388"/>
                    </a:cubicBezTo>
                    <a:lnTo>
                      <a:pt x="542837" y="130072"/>
                    </a:lnTo>
                    <a:cubicBezTo>
                      <a:pt x="542837" y="178887"/>
                      <a:pt x="503265" y="218460"/>
                      <a:pt x="454450" y="218460"/>
                    </a:cubicBezTo>
                    <a:lnTo>
                      <a:pt x="88388" y="218460"/>
                    </a:lnTo>
                    <a:cubicBezTo>
                      <a:pt x="39572" y="218460"/>
                      <a:pt x="0" y="178887"/>
                      <a:pt x="0" y="130072"/>
                    </a:cubicBezTo>
                    <a:lnTo>
                      <a:pt x="0" y="88388"/>
                    </a:lnTo>
                    <a:cubicBezTo>
                      <a:pt x="0" y="39572"/>
                      <a:pt x="39572" y="0"/>
                      <a:pt x="8838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66675"/>
                <a:ext cx="542837" cy="285135"/>
              </a:xfrm>
              <a:prstGeom prst="rect">
                <a:avLst/>
              </a:prstGeom>
            </p:spPr>
            <p:txBody>
              <a:bodyPr lIns="31476" tIns="31476" rIns="31476" bIns="31476" rtlCol="0" anchor="ctr"/>
              <a:lstStyle/>
              <a:p>
                <a:pPr algn="ctr">
                  <a:lnSpc>
                    <a:spcPts val="5040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1859215" y="700664"/>
              <a:ext cx="2718779" cy="802835"/>
            </a:xfrm>
            <a:custGeom>
              <a:avLst/>
              <a:gdLst/>
              <a:ahLst/>
              <a:cxnLst/>
              <a:rect l="l" t="t" r="r" b="b"/>
              <a:pathLst>
                <a:path w="2718779" h="802835">
                  <a:moveTo>
                    <a:pt x="0" y="0"/>
                  </a:moveTo>
                  <a:lnTo>
                    <a:pt x="2718779" y="0"/>
                  </a:lnTo>
                  <a:lnTo>
                    <a:pt x="2718779" y="802834"/>
                  </a:lnTo>
                  <a:lnTo>
                    <a:pt x="0" y="802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9040200" y="500117"/>
              <a:ext cx="2155871" cy="1131923"/>
            </a:xfrm>
            <a:custGeom>
              <a:avLst/>
              <a:gdLst/>
              <a:ahLst/>
              <a:cxnLst/>
              <a:rect l="l" t="t" r="r" b="b"/>
              <a:pathLst>
                <a:path w="2155871" h="1131923">
                  <a:moveTo>
                    <a:pt x="0" y="0"/>
                  </a:moveTo>
                  <a:lnTo>
                    <a:pt x="2155871" y="0"/>
                  </a:lnTo>
                  <a:lnTo>
                    <a:pt x="2155871" y="1131923"/>
                  </a:lnTo>
                  <a:lnTo>
                    <a:pt x="0" y="1131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0848" t="-87578" r="-18185" b="-77228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 rot="5400000">
              <a:off x="4296376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3" y="0"/>
                  </a:lnTo>
                  <a:lnTo>
                    <a:pt x="1413653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 rot="5400000">
              <a:off x="8076446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 rot="5400000">
              <a:off x="10738503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 rot="5400000">
              <a:off x="14334452" y="920197"/>
              <a:ext cx="1413652" cy="219116"/>
            </a:xfrm>
            <a:custGeom>
              <a:avLst/>
              <a:gdLst/>
              <a:ahLst/>
              <a:cxnLst/>
              <a:rect l="l" t="t" r="r" b="b"/>
              <a:pathLst>
                <a:path w="1413652" h="219116">
                  <a:moveTo>
                    <a:pt x="0" y="0"/>
                  </a:moveTo>
                  <a:lnTo>
                    <a:pt x="1413652" y="0"/>
                  </a:lnTo>
                  <a:lnTo>
                    <a:pt x="1413652" y="219116"/>
                  </a:lnTo>
                  <a:lnTo>
                    <a:pt x="0" y="2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0" y="12926593"/>
              <a:ext cx="447079" cy="513331"/>
            </a:xfrm>
            <a:custGeom>
              <a:avLst/>
              <a:gdLst/>
              <a:ahLst/>
              <a:cxnLst/>
              <a:rect l="l" t="t" r="r" b="b"/>
              <a:pathLst>
                <a:path w="447079" h="513331">
                  <a:moveTo>
                    <a:pt x="0" y="0"/>
                  </a:moveTo>
                  <a:lnTo>
                    <a:pt x="447079" y="0"/>
                  </a:lnTo>
                  <a:lnTo>
                    <a:pt x="447079" y="513332"/>
                  </a:lnTo>
                  <a:lnTo>
                    <a:pt x="0" y="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46410" r="-2261800" b="-794889"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23872891" y="12926593"/>
              <a:ext cx="327286" cy="513331"/>
            </a:xfrm>
            <a:custGeom>
              <a:avLst/>
              <a:gdLst/>
              <a:ahLst/>
              <a:cxnLst/>
              <a:rect l="l" t="t" r="r" b="b"/>
              <a:pathLst>
                <a:path w="327286" h="513331">
                  <a:moveTo>
                    <a:pt x="0" y="0"/>
                  </a:moveTo>
                  <a:lnTo>
                    <a:pt x="327286" y="0"/>
                  </a:lnTo>
                  <a:lnTo>
                    <a:pt x="327286" y="513332"/>
                  </a:lnTo>
                  <a:lnTo>
                    <a:pt x="0" y="513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3189663" b="-794889"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 rot="-2449180">
              <a:off x="18577" y="108518"/>
              <a:ext cx="409925" cy="209368"/>
            </a:xfrm>
            <a:custGeom>
              <a:avLst/>
              <a:gdLst/>
              <a:ahLst/>
              <a:cxnLst/>
              <a:rect l="l" t="t" r="r" b="b"/>
              <a:pathLst>
                <a:path w="409925" h="209368">
                  <a:moveTo>
                    <a:pt x="0" y="0"/>
                  </a:moveTo>
                  <a:lnTo>
                    <a:pt x="409925" y="0"/>
                  </a:lnTo>
                  <a:lnTo>
                    <a:pt x="409925" y="209367"/>
                  </a:lnTo>
                  <a:lnTo>
                    <a:pt x="0" y="209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22294" t="-487293" r="-5831621" b="-4553559"/>
              </a:stretch>
            </a:blipFill>
          </p:spPr>
        </p:sp>
      </p:grpSp>
      <p:sp>
        <p:nvSpPr>
          <p:cNvPr id="25" name="Freeform 25"/>
          <p:cNvSpPr/>
          <p:nvPr/>
        </p:nvSpPr>
        <p:spPr>
          <a:xfrm>
            <a:off x="15601367" y="76238"/>
            <a:ext cx="2551067" cy="203144"/>
          </a:xfrm>
          <a:custGeom>
            <a:avLst/>
            <a:gdLst/>
            <a:ahLst/>
            <a:cxnLst/>
            <a:rect l="l" t="t" r="r" b="b"/>
            <a:pathLst>
              <a:path w="2551067" h="203144">
                <a:moveTo>
                  <a:pt x="0" y="0"/>
                </a:moveTo>
                <a:lnTo>
                  <a:pt x="2551066" y="0"/>
                </a:lnTo>
                <a:lnTo>
                  <a:pt x="2551066" y="203144"/>
                </a:lnTo>
                <a:lnTo>
                  <a:pt x="0" y="2031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82375" r="-641643" b="-3691381"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09097" y="1463560"/>
            <a:ext cx="4158103" cy="8595562"/>
          </a:xfrm>
          <a:custGeom>
            <a:avLst/>
            <a:gdLst/>
            <a:ahLst/>
            <a:cxnLst/>
            <a:rect l="l" t="t" r="r" b="b"/>
            <a:pathLst>
              <a:path w="4158103" h="8595562">
                <a:moveTo>
                  <a:pt x="0" y="0"/>
                </a:moveTo>
                <a:lnTo>
                  <a:pt x="4158103" y="0"/>
                </a:lnTo>
                <a:lnTo>
                  <a:pt x="4158103" y="8595563"/>
                </a:lnTo>
                <a:lnTo>
                  <a:pt x="0" y="859556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8384506" y="3538678"/>
            <a:ext cx="9767927" cy="5170896"/>
          </a:xfrm>
          <a:custGeom>
            <a:avLst/>
            <a:gdLst/>
            <a:ahLst/>
            <a:cxnLst/>
            <a:rect l="l" t="t" r="r" b="b"/>
            <a:pathLst>
              <a:path w="9767927" h="5170896">
                <a:moveTo>
                  <a:pt x="0" y="0"/>
                </a:moveTo>
                <a:lnTo>
                  <a:pt x="9767927" y="0"/>
                </a:lnTo>
                <a:lnTo>
                  <a:pt x="9767927" y="5170896"/>
                </a:lnTo>
                <a:lnTo>
                  <a:pt x="0" y="517089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593</Words>
  <Application>Microsoft Office PowerPoint</Application>
  <PresentationFormat>Custom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Arial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paragraph text</dc:title>
  <dc:creator>MOHAMMED ASRAR U</dc:creator>
  <cp:lastModifiedBy>Mohammed Asrar 23MIC0121</cp:lastModifiedBy>
  <cp:revision>5</cp:revision>
  <dcterms:created xsi:type="dcterms:W3CDTF">2006-08-16T00:00:00Z</dcterms:created>
  <dcterms:modified xsi:type="dcterms:W3CDTF">2026-09-10T13:47:32Z</dcterms:modified>
  <dc:identifier>DAHUfn-bF08</dc:identifier>
</cp:coreProperties>
</file>